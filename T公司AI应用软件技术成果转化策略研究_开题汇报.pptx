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931920" cy="685800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0" y="0"/>
            <a:ext cx="164592" cy="6858000"/>
          </a:xfrm>
          <a:prstGeom prst="rect">
            <a:avLst/>
          </a:prstGeom>
          <a:solidFill>
            <a:srgbClr val="3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05840"/>
            <a:ext cx="2743200" cy="411480"/>
          </a:xfrm>
          <a:prstGeom prst="rect">
            <a:avLst/>
          </a:prstGeom>
          <a:noFill/>
        </p:spPr>
        <p:txBody>
          <a:bodyPr wrap="square" anchor="t">
            <a:noAutofit/>
          </a:bodyPr>
          <a:lstStyle/>
          <a:p>
            <a:pPr algn="l"/>
            <a:r>
              <a:rPr sz="2800" b="1">
                <a:solidFill>
                  <a:srgbClr val="FFFFFF"/>
                </a:solidFill>
                <a:latin typeface="Microsoft YaHei"/>
              </a:rPr>
              <a:t>开题汇报</a:t>
            </a:r>
          </a:p>
        </p:txBody>
      </p:sp>
      <p:sp>
        <p:nvSpPr>
          <p:cNvPr id="6" name="TextBox 5"/>
          <p:cNvSpPr txBox="1"/>
          <p:nvPr/>
        </p:nvSpPr>
        <p:spPr>
          <a:xfrm>
            <a:off x="502920" y="1645920"/>
            <a:ext cx="2926080" cy="2011680"/>
          </a:xfrm>
          <a:prstGeom prst="rect">
            <a:avLst/>
          </a:prstGeom>
          <a:noFill/>
        </p:spPr>
        <p:txBody>
          <a:bodyPr wrap="square" anchor="t">
            <a:noAutofit/>
          </a:bodyPr>
          <a:lstStyle/>
          <a:p>
            <a:pPr algn="l"/>
            <a:r>
              <a:rPr sz="2500" b="1">
                <a:solidFill>
                  <a:srgbClr val="FFFFFF"/>
                </a:solidFill>
                <a:latin typeface="Microsoft YaHei"/>
              </a:rPr>
              <a:t>T公司AI应用软件</a:t>
            </a:r>
          </a:p>
          <a:p>
            <a:pPr algn="l"/>
            <a:r>
              <a:rPr sz="2500" b="1">
                <a:solidFill>
                  <a:srgbClr val="FFFFFF"/>
                </a:solidFill>
                <a:latin typeface="Microsoft YaHei"/>
              </a:rPr>
              <a:t>技术成果转化策略研究</a:t>
            </a:r>
          </a:p>
        </p:txBody>
      </p:sp>
      <p:sp>
        <p:nvSpPr>
          <p:cNvPr id="7" name="Rounded Rectangle 6"/>
          <p:cNvSpPr/>
          <p:nvPr/>
        </p:nvSpPr>
        <p:spPr>
          <a:xfrm>
            <a:off x="502920" y="4069080"/>
            <a:ext cx="2377440" cy="36576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YaHei"/>
              </a:rPr>
              <a:t>主题：应用驱动 · 软硬协同 · 商业转化</a:t>
            </a:r>
          </a:p>
        </p:txBody>
      </p:sp>
      <p:sp>
        <p:nvSpPr>
          <p:cNvPr id="8" name="TextBox 7"/>
          <p:cNvSpPr txBox="1"/>
          <p:nvPr/>
        </p:nvSpPr>
        <p:spPr>
          <a:xfrm>
            <a:off x="594360" y="4800600"/>
            <a:ext cx="2651760" cy="640080"/>
          </a:xfrm>
          <a:prstGeom prst="rect">
            <a:avLst/>
          </a:prstGeom>
          <a:noFill/>
        </p:spPr>
        <p:txBody>
          <a:bodyPr wrap="square" anchor="t">
            <a:noAutofit/>
          </a:bodyPr>
          <a:lstStyle/>
          <a:p>
            <a:pPr algn="l"/>
            <a:r>
              <a:rPr sz="1200" b="0">
                <a:solidFill>
                  <a:srgbClr val="E0E8F5"/>
                </a:solidFill>
                <a:latin typeface="Microsoft YaHei"/>
              </a:rPr>
              <a:t>汇报用途：硕士论文开题</a:t>
            </a:r>
          </a:p>
          <a:p>
            <a:pPr algn="l"/>
            <a:r>
              <a:rPr sz="1200" b="0">
                <a:solidFill>
                  <a:srgbClr val="E0E8F5"/>
                </a:solidFill>
                <a:latin typeface="Microsoft YaHei"/>
              </a:rPr>
              <a:t>关键词：AI应用软件 / 转化策略 / T公司案例</a:t>
            </a:r>
          </a:p>
        </p:txBody>
      </p:sp>
      <p:sp>
        <p:nvSpPr>
          <p:cNvPr id="9" name="Rounded Rectangle 8"/>
          <p:cNvSpPr/>
          <p:nvPr/>
        </p:nvSpPr>
        <p:spPr>
          <a:xfrm>
            <a:off x="4389120" y="822960"/>
            <a:ext cx="7132320" cy="9144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078992"/>
            <a:ext cx="6583680" cy="365760"/>
          </a:xfrm>
          <a:prstGeom prst="rect">
            <a:avLst/>
          </a:prstGeom>
          <a:noFill/>
        </p:spPr>
        <p:txBody>
          <a:bodyPr wrap="square" anchor="t">
            <a:noAutofit/>
          </a:bodyPr>
          <a:lstStyle/>
          <a:p>
            <a:pPr algn="l"/>
            <a:r>
              <a:rPr sz="2200" b="1">
                <a:solidFill>
                  <a:srgbClr val="132B4D"/>
                </a:solidFill>
                <a:latin typeface="Microsoft YaHei"/>
              </a:rPr>
              <a:t>以AI应用软件驱动T公司技术成果商业化落地</a:t>
            </a:r>
          </a:p>
        </p:txBody>
      </p:sp>
      <p:sp>
        <p:nvSpPr>
          <p:cNvPr id="11" name="Chevron 10"/>
          <p:cNvSpPr/>
          <p:nvPr/>
        </p:nvSpPr>
        <p:spPr>
          <a:xfrm>
            <a:off x="4663440" y="2011680"/>
            <a:ext cx="2011680" cy="658368"/>
          </a:xfrm>
          <a:prstGeom prst="chevron">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硬件算力</a:t>
            </a:r>
          </a:p>
        </p:txBody>
      </p:sp>
      <p:sp>
        <p:nvSpPr>
          <p:cNvPr id="12" name="Chevron 11"/>
          <p:cNvSpPr/>
          <p:nvPr/>
        </p:nvSpPr>
        <p:spPr>
          <a:xfrm>
            <a:off x="6583680" y="2011680"/>
            <a:ext cx="2011680" cy="658368"/>
          </a:xfrm>
          <a:prstGeom prst="chevron">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应用软件</a:t>
            </a:r>
          </a:p>
        </p:txBody>
      </p:sp>
      <p:sp>
        <p:nvSpPr>
          <p:cNvPr id="13" name="Chevron 12"/>
          <p:cNvSpPr/>
          <p:nvPr/>
        </p:nvSpPr>
        <p:spPr>
          <a:xfrm>
            <a:off x="8503920" y="2011680"/>
            <a:ext cx="2011680" cy="658368"/>
          </a:xfrm>
          <a:prstGeom prst="chevron">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商业价值</a:t>
            </a:r>
          </a:p>
        </p:txBody>
      </p:sp>
      <p:sp>
        <p:nvSpPr>
          <p:cNvPr id="14" name="Hexagon 13"/>
          <p:cNvSpPr/>
          <p:nvPr/>
        </p:nvSpPr>
        <p:spPr>
          <a:xfrm>
            <a:off x="6492240" y="2971800"/>
            <a:ext cx="2240280" cy="1234440"/>
          </a:xfrm>
          <a:prstGeom prst="hexagon">
            <a:avLst/>
          </a:prstGeom>
          <a:solidFill>
            <a:srgbClr val="E6EFFA"/>
          </a:solidFill>
          <a:ln>
            <a:solidFill>
              <a:srgbClr val="3A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32B4D"/>
                </a:solidFill>
                <a:latin typeface="Microsoft YaHei"/>
              </a:rPr>
              <a:t>双轮驱动
转化框架</a:t>
            </a:r>
          </a:p>
        </p:txBody>
      </p:sp>
      <p:sp>
        <p:nvSpPr>
          <p:cNvPr id="15" name="Rounded Rectangle 14"/>
          <p:cNvSpPr/>
          <p:nvPr/>
        </p:nvSpPr>
        <p:spPr>
          <a:xfrm>
            <a:off x="4572000" y="4526280"/>
            <a:ext cx="2331720" cy="96012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icrosoft YaHei"/>
              </a:rPr>
              <a:t>软件直接变现
SaaS / API / 授权</a:t>
            </a:r>
          </a:p>
        </p:txBody>
      </p:sp>
      <p:sp>
        <p:nvSpPr>
          <p:cNvPr id="16" name="Rounded Rectangle 15"/>
          <p:cNvSpPr/>
          <p:nvPr/>
        </p:nvSpPr>
        <p:spPr>
          <a:xfrm>
            <a:off x="8595360" y="4526280"/>
            <a:ext cx="2331720" cy="960120"/>
          </a:xfrm>
          <a:prstGeom prst="round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icrosoft YaHei"/>
              </a:rPr>
              <a:t>OEM集成拉动
方案嵌入 / 芯片增销</a:t>
            </a:r>
          </a:p>
        </p:txBody>
      </p:sp>
      <p:sp>
        <p:nvSpPr>
          <p:cNvPr id="17" name="TextBox 16"/>
          <p:cNvSpPr txBox="1"/>
          <p:nvPr/>
        </p:nvSpPr>
        <p:spPr>
          <a:xfrm>
            <a:off x="4526280" y="5806440"/>
            <a:ext cx="6675120" cy="457200"/>
          </a:xfrm>
          <a:prstGeom prst="rect">
            <a:avLst/>
          </a:prstGeom>
          <a:noFill/>
        </p:spPr>
        <p:txBody>
          <a:bodyPr wrap="square" anchor="t">
            <a:noAutofit/>
          </a:bodyPr>
          <a:lstStyle/>
          <a:p>
            <a:pPr algn="l"/>
            <a:r>
              <a:rPr sz="1500" b="0">
                <a:solidFill>
                  <a:srgbClr val="1F2937"/>
                </a:solidFill>
                <a:latin typeface="Microsoft YaHei"/>
              </a:rPr>
              <a:t>核心判断：仅有算力不足以突围，必须用优质AI应用软件把技术能力转化为客户可感知价值。</a:t>
            </a:r>
          </a:p>
        </p:txBody>
      </p:sp>
      <p:sp>
        <p:nvSpPr>
          <p:cNvPr id="18" name="TextBox 17"/>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一、研究背景与选题价值</a:t>
            </a:r>
          </a:p>
          <a:p>
            <a:r>
              <a:rPr sz="1000">
                <a:solidFill>
                  <a:srgbClr val="DCE6F5"/>
                </a:solidFill>
                <a:latin typeface="Microsoft YaHei"/>
              </a:rPr>
              <a:t>问题提出：AI产业价值增长重心正从"硬件参数"转向"应用创造价值"</a:t>
            </a:r>
          </a:p>
        </p:txBody>
      </p:sp>
      <p:sp>
        <p:nvSpPr>
          <p:cNvPr id="4" name="Rounded Rectangle 3"/>
          <p:cNvSpPr/>
          <p:nvPr/>
        </p:nvSpPr>
        <p:spPr>
          <a:xfrm>
            <a:off x="411480" y="960120"/>
            <a:ext cx="3657600" cy="20574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960120"/>
            <a:ext cx="109728" cy="20574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69848"/>
            <a:ext cx="3337560" cy="320040"/>
          </a:xfrm>
          <a:prstGeom prst="rect">
            <a:avLst/>
          </a:prstGeom>
          <a:noFill/>
        </p:spPr>
        <p:txBody>
          <a:bodyPr wrap="square" anchor="t">
            <a:noAutofit/>
          </a:bodyPr>
          <a:lstStyle/>
          <a:p>
            <a:pPr algn="l"/>
            <a:r>
              <a:rPr sz="1600" b="1">
                <a:solidFill>
                  <a:srgbClr val="132B4D"/>
                </a:solidFill>
                <a:latin typeface="Microsoft YaHei"/>
              </a:rPr>
              <a:t>研究背景</a:t>
            </a:r>
          </a:p>
        </p:txBody>
      </p:sp>
      <p:sp>
        <p:nvSpPr>
          <p:cNvPr id="7" name="TextBox 6"/>
          <p:cNvSpPr txBox="1"/>
          <p:nvPr/>
        </p:nvSpPr>
        <p:spPr>
          <a:xfrm>
            <a:off x="594360" y="1417320"/>
            <a:ext cx="3337560" cy="1490472"/>
          </a:xfrm>
          <a:prstGeom prst="rect">
            <a:avLst/>
          </a:prstGeom>
          <a:noFill/>
        </p:spPr>
        <p:txBody>
          <a:bodyPr wrap="square">
            <a:spAutoFit/>
          </a:bodyPr>
          <a:lstStyle/>
          <a:p>
            <a:r>
              <a:rPr sz="1200">
                <a:solidFill>
                  <a:srgbClr val="1F2937"/>
                </a:solidFill>
                <a:latin typeface="Microsoft YaHei"/>
              </a:rPr>
              <a:t>• AI产业竞争焦点从芯片制程、峰值算力，转向"硬件—软件—应用"深度融合。</a:t>
            </a:r>
          </a:p>
          <a:p>
            <a:r>
              <a:rPr sz="1200">
                <a:solidFill>
                  <a:srgbClr val="1F2937"/>
                </a:solidFill>
                <a:latin typeface="Microsoft YaHei"/>
              </a:rPr>
              <a:t>• 对国产芯片企业而言，仅具算力优势已不足以撬动市场，需要上层应用来降低门槛、提升体验。</a:t>
            </a:r>
          </a:p>
          <a:p>
            <a:r>
              <a:rPr sz="1200">
                <a:solidFill>
                  <a:srgbClr val="1F2937"/>
                </a:solidFill>
                <a:latin typeface="Microsoft YaHei"/>
              </a:rPr>
              <a:t>• AI应用软件已成为技术成果能否商业化落地的关键变量。</a:t>
            </a:r>
          </a:p>
        </p:txBody>
      </p:sp>
      <p:sp>
        <p:nvSpPr>
          <p:cNvPr id="8" name="Rounded Rectangle 7"/>
          <p:cNvSpPr/>
          <p:nvPr/>
        </p:nvSpPr>
        <p:spPr>
          <a:xfrm>
            <a:off x="411480" y="3200400"/>
            <a:ext cx="3657600" cy="224028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3200400"/>
            <a:ext cx="109728" cy="2240280"/>
          </a:xfrm>
          <a:prstGeom prst="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310128"/>
            <a:ext cx="3337560" cy="320040"/>
          </a:xfrm>
          <a:prstGeom prst="rect">
            <a:avLst/>
          </a:prstGeom>
          <a:noFill/>
        </p:spPr>
        <p:txBody>
          <a:bodyPr wrap="square" anchor="t">
            <a:noAutofit/>
          </a:bodyPr>
          <a:lstStyle/>
          <a:p>
            <a:pPr algn="l"/>
            <a:r>
              <a:rPr sz="1600" b="1">
                <a:solidFill>
                  <a:srgbClr val="132B4D"/>
                </a:solidFill>
                <a:latin typeface="Microsoft YaHei"/>
              </a:rPr>
              <a:t>选题价值</a:t>
            </a:r>
          </a:p>
        </p:txBody>
      </p:sp>
      <p:sp>
        <p:nvSpPr>
          <p:cNvPr id="11" name="TextBox 10"/>
          <p:cNvSpPr txBox="1"/>
          <p:nvPr/>
        </p:nvSpPr>
        <p:spPr>
          <a:xfrm>
            <a:off x="594360" y="3657600"/>
            <a:ext cx="3337560" cy="1673352"/>
          </a:xfrm>
          <a:prstGeom prst="rect">
            <a:avLst/>
          </a:prstGeom>
          <a:noFill/>
        </p:spPr>
        <p:txBody>
          <a:bodyPr wrap="square">
            <a:spAutoFit/>
          </a:bodyPr>
          <a:lstStyle/>
          <a:p>
            <a:r>
              <a:rPr sz="1200">
                <a:solidFill>
                  <a:srgbClr val="1F2937"/>
                </a:solidFill>
                <a:latin typeface="Microsoft YaHei"/>
              </a:rPr>
              <a:t>• 聚焦T公司AI应用软件成果转化，回应"有算力、无应用"的现实困境。</a:t>
            </a:r>
          </a:p>
          <a:p>
            <a:r>
              <a:rPr sz="1200">
                <a:solidFill>
                  <a:srgbClr val="1F2937"/>
                </a:solidFill>
                <a:latin typeface="Microsoft YaHei"/>
              </a:rPr>
              <a:t>• 从理论上补足中型AI芯片企业成果转化研究不足。</a:t>
            </a:r>
          </a:p>
          <a:p>
            <a:r>
              <a:rPr sz="1200">
                <a:solidFill>
                  <a:srgbClr val="1F2937"/>
                </a:solidFill>
                <a:latin typeface="Microsoft YaHei"/>
              </a:rPr>
              <a:t>• 从实践上为"卖芯片"向"卖解决方案"转型提供路径。</a:t>
            </a:r>
          </a:p>
        </p:txBody>
      </p:sp>
      <p:sp>
        <p:nvSpPr>
          <p:cNvPr id="12" name="TextBox 11"/>
          <p:cNvSpPr txBox="1"/>
          <p:nvPr/>
        </p:nvSpPr>
        <p:spPr>
          <a:xfrm>
            <a:off x="4389120" y="960120"/>
            <a:ext cx="2377440" cy="320040"/>
          </a:xfrm>
          <a:prstGeom prst="rect">
            <a:avLst/>
          </a:prstGeom>
          <a:noFill/>
        </p:spPr>
        <p:txBody>
          <a:bodyPr wrap="square" anchor="t">
            <a:noAutofit/>
          </a:bodyPr>
          <a:lstStyle/>
          <a:p>
            <a:pPr algn="l"/>
            <a:r>
              <a:rPr sz="1800" b="1">
                <a:solidFill>
                  <a:srgbClr val="132B4D"/>
                </a:solidFill>
                <a:latin typeface="Microsoft YaHei"/>
              </a:rPr>
              <a:t>产业价值迁移路径</a:t>
            </a:r>
          </a:p>
        </p:txBody>
      </p:sp>
      <p:sp>
        <p:nvSpPr>
          <p:cNvPr id="13" name="Chevron 12"/>
          <p:cNvSpPr/>
          <p:nvPr/>
        </p:nvSpPr>
        <p:spPr>
          <a:xfrm>
            <a:off x="4480560" y="1508760"/>
            <a:ext cx="2103120" cy="731520"/>
          </a:xfrm>
          <a:prstGeom prst="chevron">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阶段1
硬件参数竞争</a:t>
            </a:r>
          </a:p>
        </p:txBody>
      </p:sp>
      <p:sp>
        <p:nvSpPr>
          <p:cNvPr id="14" name="Chevron 13"/>
          <p:cNvSpPr/>
          <p:nvPr/>
        </p:nvSpPr>
        <p:spPr>
          <a:xfrm>
            <a:off x="6446520" y="1508760"/>
            <a:ext cx="2103120" cy="731520"/>
          </a:xfrm>
          <a:prstGeom prst="chevron">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阶段2
软硬协同优化</a:t>
            </a:r>
          </a:p>
        </p:txBody>
      </p:sp>
      <p:sp>
        <p:nvSpPr>
          <p:cNvPr id="15" name="Chevron 14"/>
          <p:cNvSpPr/>
          <p:nvPr/>
        </p:nvSpPr>
        <p:spPr>
          <a:xfrm>
            <a:off x="8412480" y="1508760"/>
            <a:ext cx="2377440" cy="731520"/>
          </a:xfrm>
          <a:prstGeom prst="chevron">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阶段3
应用创造价值</a:t>
            </a:r>
          </a:p>
        </p:txBody>
      </p:sp>
      <p:sp>
        <p:nvSpPr>
          <p:cNvPr id="16" name="Oval 15"/>
          <p:cNvSpPr/>
          <p:nvPr/>
        </p:nvSpPr>
        <p:spPr>
          <a:xfrm>
            <a:off x="4617720" y="2788920"/>
            <a:ext cx="1417320" cy="1417320"/>
          </a:xfrm>
          <a:prstGeom prst="ellipse">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芯片</a:t>
            </a:r>
          </a:p>
        </p:txBody>
      </p:sp>
      <p:sp>
        <p:nvSpPr>
          <p:cNvPr id="17" name="TextBox 16"/>
          <p:cNvSpPr txBox="1"/>
          <p:nvPr/>
        </p:nvSpPr>
        <p:spPr>
          <a:xfrm>
            <a:off x="4544568" y="4343400"/>
            <a:ext cx="1600200" cy="274320"/>
          </a:xfrm>
          <a:prstGeom prst="rect">
            <a:avLst/>
          </a:prstGeom>
          <a:noFill/>
        </p:spPr>
        <p:txBody>
          <a:bodyPr wrap="square" anchor="t">
            <a:noAutofit/>
          </a:bodyPr>
          <a:lstStyle/>
          <a:p>
            <a:pPr algn="ctr"/>
            <a:r>
              <a:rPr sz="1100" b="0">
                <a:solidFill>
                  <a:srgbClr val="6B7280"/>
                </a:solidFill>
                <a:latin typeface="Microsoft YaHei"/>
              </a:rPr>
              <a:t>算力上限</a:t>
            </a:r>
          </a:p>
        </p:txBody>
      </p:sp>
      <p:sp>
        <p:nvSpPr>
          <p:cNvPr id="18" name="Oval 17"/>
          <p:cNvSpPr/>
          <p:nvPr/>
        </p:nvSpPr>
        <p:spPr>
          <a:xfrm>
            <a:off x="6720840" y="2788920"/>
            <a:ext cx="1417320" cy="1417320"/>
          </a:xfrm>
          <a:prstGeom prst="ellipse">
            <a:avLst/>
          </a:prstGeom>
          <a:solidFill>
            <a:srgbClr val="3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软件</a:t>
            </a:r>
          </a:p>
        </p:txBody>
      </p:sp>
      <p:sp>
        <p:nvSpPr>
          <p:cNvPr id="19" name="TextBox 18"/>
          <p:cNvSpPr txBox="1"/>
          <p:nvPr/>
        </p:nvSpPr>
        <p:spPr>
          <a:xfrm>
            <a:off x="6647688" y="4343400"/>
            <a:ext cx="1600200" cy="274320"/>
          </a:xfrm>
          <a:prstGeom prst="rect">
            <a:avLst/>
          </a:prstGeom>
          <a:noFill/>
        </p:spPr>
        <p:txBody>
          <a:bodyPr wrap="square" anchor="t">
            <a:noAutofit/>
          </a:bodyPr>
          <a:lstStyle/>
          <a:p>
            <a:pPr algn="ctr"/>
            <a:r>
              <a:rPr sz="1100" b="0">
                <a:solidFill>
                  <a:srgbClr val="6B7280"/>
                </a:solidFill>
                <a:latin typeface="Microsoft YaHei"/>
              </a:rPr>
              <a:t>易用性/适配性</a:t>
            </a:r>
          </a:p>
        </p:txBody>
      </p:sp>
      <p:sp>
        <p:nvSpPr>
          <p:cNvPr id="20" name="Oval 19"/>
          <p:cNvSpPr/>
          <p:nvPr/>
        </p:nvSpPr>
        <p:spPr>
          <a:xfrm>
            <a:off x="8823960" y="2788920"/>
            <a:ext cx="1417320" cy="1417320"/>
          </a:xfrm>
          <a:prstGeom prst="ellipse">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应用</a:t>
            </a:r>
          </a:p>
        </p:txBody>
      </p:sp>
      <p:sp>
        <p:nvSpPr>
          <p:cNvPr id="21" name="TextBox 20"/>
          <p:cNvSpPr txBox="1"/>
          <p:nvPr/>
        </p:nvSpPr>
        <p:spPr>
          <a:xfrm>
            <a:off x="8750808" y="4343400"/>
            <a:ext cx="1600200" cy="274320"/>
          </a:xfrm>
          <a:prstGeom prst="rect">
            <a:avLst/>
          </a:prstGeom>
          <a:noFill/>
        </p:spPr>
        <p:txBody>
          <a:bodyPr wrap="square" anchor="t">
            <a:noAutofit/>
          </a:bodyPr>
          <a:lstStyle/>
          <a:p>
            <a:pPr algn="ctr"/>
            <a:r>
              <a:rPr sz="1100" b="0">
                <a:solidFill>
                  <a:srgbClr val="6B7280"/>
                </a:solidFill>
                <a:latin typeface="Microsoft YaHei"/>
              </a:rPr>
              <a:t>用户体验/商业回报</a:t>
            </a:r>
          </a:p>
        </p:txBody>
      </p:sp>
      <p:sp>
        <p:nvSpPr>
          <p:cNvPr id="22" name="TextBox 21"/>
          <p:cNvSpPr txBox="1"/>
          <p:nvPr/>
        </p:nvSpPr>
        <p:spPr>
          <a:xfrm>
            <a:off x="4663440" y="5074920"/>
            <a:ext cx="6035040" cy="640080"/>
          </a:xfrm>
          <a:prstGeom prst="rect">
            <a:avLst/>
          </a:prstGeom>
          <a:noFill/>
        </p:spPr>
        <p:txBody>
          <a:bodyPr wrap="square" anchor="t">
            <a:noAutofit/>
          </a:bodyPr>
          <a:lstStyle/>
          <a:p>
            <a:pPr algn="ctr"/>
            <a:r>
              <a:rPr sz="1700" b="1">
                <a:solidFill>
                  <a:srgbClr val="132B4D"/>
                </a:solidFill>
                <a:latin typeface="Microsoft YaHei"/>
              </a:rPr>
              <a:t>结论：硬件性能决定"能不能做"，而AI应用软件决定"用户愿不愿用、客户愿不愿买"。</a:t>
            </a:r>
          </a:p>
        </p:txBody>
      </p:sp>
      <p:sp>
        <p:nvSpPr>
          <p:cNvPr id="23" name="TextBox 22"/>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二、国内外研究进展与研究空白</a:t>
            </a:r>
          </a:p>
          <a:p>
            <a:r>
              <a:rPr sz="1000">
                <a:solidFill>
                  <a:srgbClr val="DCE6F5"/>
                </a:solidFill>
                <a:latin typeface="Microsoft YaHei"/>
              </a:rPr>
              <a:t>已有研究已从技术可行性转向转化机制、商业模式与生态协同</a:t>
            </a:r>
          </a:p>
        </p:txBody>
      </p:sp>
      <p:sp>
        <p:nvSpPr>
          <p:cNvPr id="4" name="Rounded Rectangle 3"/>
          <p:cNvSpPr/>
          <p:nvPr/>
        </p:nvSpPr>
        <p:spPr>
          <a:xfrm>
            <a:off x="411480" y="914400"/>
            <a:ext cx="5349240" cy="438912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914400"/>
            <a:ext cx="109728" cy="43891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5029200" cy="320040"/>
          </a:xfrm>
          <a:prstGeom prst="rect">
            <a:avLst/>
          </a:prstGeom>
          <a:noFill/>
        </p:spPr>
        <p:txBody>
          <a:bodyPr wrap="square" anchor="t">
            <a:noAutofit/>
          </a:bodyPr>
          <a:lstStyle/>
          <a:p>
            <a:pPr algn="l"/>
            <a:r>
              <a:rPr sz="1800" b="1">
                <a:solidFill>
                  <a:srgbClr val="132B4D"/>
                </a:solidFill>
                <a:latin typeface="Microsoft YaHei"/>
              </a:rPr>
              <a:t>国外研究进展</a:t>
            </a:r>
          </a:p>
        </p:txBody>
      </p:sp>
      <p:sp>
        <p:nvSpPr>
          <p:cNvPr id="7" name="TextBox 6"/>
          <p:cNvSpPr txBox="1"/>
          <p:nvPr/>
        </p:nvSpPr>
        <p:spPr>
          <a:xfrm>
            <a:off x="594360" y="1371600"/>
            <a:ext cx="5029200" cy="3822192"/>
          </a:xfrm>
          <a:prstGeom prst="rect">
            <a:avLst/>
          </a:prstGeom>
          <a:noFill/>
        </p:spPr>
        <p:txBody>
          <a:bodyPr wrap="square">
            <a:spAutoFit/>
          </a:bodyPr>
          <a:lstStyle/>
          <a:p>
            <a:r>
              <a:rPr sz="1300">
                <a:solidFill>
                  <a:srgbClr val="1F2937"/>
                </a:solidFill>
                <a:latin typeface="Microsoft YaHei"/>
              </a:rPr>
              <a:t>• 强调数字化转型中的生态协同与价值共创。</a:t>
            </a:r>
          </a:p>
          <a:p>
            <a:r>
              <a:rPr sz="1300">
                <a:solidFill>
                  <a:srgbClr val="1F2937"/>
                </a:solidFill>
                <a:latin typeface="Microsoft YaHei"/>
              </a:rPr>
              <a:t>• 生成式AI降低原创创新门槛，加速原型到产品的转化。</a:t>
            </a:r>
          </a:p>
          <a:p>
            <a:r>
              <a:rPr sz="1300">
                <a:solidFill>
                  <a:srgbClr val="1F2937"/>
                </a:solidFill>
                <a:latin typeface="Microsoft YaHei"/>
              </a:rPr>
              <a:t>• 商业化路径从"技术推动"转向"市场拉动"。</a:t>
            </a:r>
          </a:p>
          <a:p>
            <a:r>
              <a:rPr sz="1300">
                <a:solidFill>
                  <a:srgbClr val="1F2937"/>
                </a:solidFill>
                <a:latin typeface="Microsoft YaHei"/>
              </a:rPr>
              <a:t>• 关注"死亡之谷"、可解释性、跨场景泛化等转化障碍。</a:t>
            </a:r>
          </a:p>
          <a:p>
            <a:r>
              <a:rPr sz="1300">
                <a:solidFill>
                  <a:srgbClr val="1F2937"/>
                </a:solidFill>
                <a:latin typeface="Microsoft YaHei"/>
              </a:rPr>
              <a:t>• 主张以客户价值导向设计差异化服务与定价。</a:t>
            </a:r>
          </a:p>
        </p:txBody>
      </p:sp>
      <p:sp>
        <p:nvSpPr>
          <p:cNvPr id="8" name="Rounded Rectangle 7"/>
          <p:cNvSpPr/>
          <p:nvPr/>
        </p:nvSpPr>
        <p:spPr>
          <a:xfrm>
            <a:off x="5989320" y="914400"/>
            <a:ext cx="5349240" cy="438912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914400"/>
            <a:ext cx="109728" cy="4389120"/>
          </a:xfrm>
          <a:prstGeom prst="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024128"/>
            <a:ext cx="5029200" cy="320040"/>
          </a:xfrm>
          <a:prstGeom prst="rect">
            <a:avLst/>
          </a:prstGeom>
          <a:noFill/>
        </p:spPr>
        <p:txBody>
          <a:bodyPr wrap="square" anchor="t">
            <a:noAutofit/>
          </a:bodyPr>
          <a:lstStyle/>
          <a:p>
            <a:pPr algn="l"/>
            <a:r>
              <a:rPr sz="1800" b="1">
                <a:solidFill>
                  <a:srgbClr val="132B4D"/>
                </a:solidFill>
                <a:latin typeface="Microsoft YaHei"/>
              </a:rPr>
              <a:t>国内研究进展</a:t>
            </a:r>
          </a:p>
        </p:txBody>
      </p:sp>
      <p:sp>
        <p:nvSpPr>
          <p:cNvPr id="11" name="TextBox 10"/>
          <p:cNvSpPr txBox="1"/>
          <p:nvPr/>
        </p:nvSpPr>
        <p:spPr>
          <a:xfrm>
            <a:off x="6172200" y="1371600"/>
            <a:ext cx="5029200" cy="3822192"/>
          </a:xfrm>
          <a:prstGeom prst="rect">
            <a:avLst/>
          </a:prstGeom>
          <a:noFill/>
        </p:spPr>
        <p:txBody>
          <a:bodyPr wrap="square">
            <a:spAutoFit/>
          </a:bodyPr>
          <a:lstStyle/>
          <a:p>
            <a:r>
              <a:rPr sz="1300">
                <a:solidFill>
                  <a:srgbClr val="1F2937"/>
                </a:solidFill>
                <a:latin typeface="Microsoft YaHei"/>
              </a:rPr>
              <a:t>• 产业进入"算力增强+应用驱动"协同发展阶段。</a:t>
            </a:r>
          </a:p>
          <a:p>
            <a:r>
              <a:rPr sz="1300">
                <a:solidFill>
                  <a:srgbClr val="1F2937"/>
                </a:solidFill>
                <a:latin typeface="Microsoft YaHei"/>
              </a:rPr>
              <a:t>• 产学研合作、技术转让、孵化器等转化模式并行。</a:t>
            </a:r>
          </a:p>
          <a:p>
            <a:r>
              <a:rPr sz="1300">
                <a:solidFill>
                  <a:srgbClr val="1F2937"/>
                </a:solidFill>
                <a:latin typeface="Microsoft YaHei"/>
              </a:rPr>
              <a:t>• 普遍指出"重硬件、轻软件、弱应用"的结构性矛盾。</a:t>
            </a:r>
          </a:p>
          <a:p>
            <a:r>
              <a:rPr sz="1300">
                <a:solidFill>
                  <a:srgbClr val="1F2937"/>
                </a:solidFill>
                <a:latin typeface="Microsoft YaHei"/>
              </a:rPr>
              <a:t>• 案例研究已提炼"平台+赛道"等商业化路径。</a:t>
            </a:r>
          </a:p>
          <a:p>
            <a:r>
              <a:rPr sz="1300">
                <a:solidFill>
                  <a:srgbClr val="1F2937"/>
                </a:solidFill>
                <a:latin typeface="Microsoft YaHei"/>
              </a:rPr>
              <a:t>• 政策激励有效，但效果依赖企业自身转化能力。</a:t>
            </a:r>
          </a:p>
        </p:txBody>
      </p:sp>
      <p:sp>
        <p:nvSpPr>
          <p:cNvPr id="12" name="Rounded Rectangle 11"/>
          <p:cNvSpPr/>
          <p:nvPr/>
        </p:nvSpPr>
        <p:spPr>
          <a:xfrm>
            <a:off x="914400" y="5486400"/>
            <a:ext cx="10332720" cy="777240"/>
          </a:xfrm>
          <a:prstGeom prst="roundRect">
            <a:avLst/>
          </a:prstGeom>
          <a:solidFill>
            <a:srgbClr val="FFF7ED"/>
          </a:solidFill>
          <a:ln>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650992"/>
            <a:ext cx="9966960" cy="365760"/>
          </a:xfrm>
          <a:prstGeom prst="rect">
            <a:avLst/>
          </a:prstGeom>
          <a:noFill/>
        </p:spPr>
        <p:txBody>
          <a:bodyPr wrap="square" anchor="t">
            <a:noAutofit/>
          </a:bodyPr>
          <a:lstStyle/>
          <a:p>
            <a:pPr algn="ctr"/>
            <a:r>
              <a:rPr sz="1600" b="1">
                <a:solidFill>
                  <a:srgbClr val="1F2937"/>
                </a:solidFill>
                <a:latin typeface="Microsoft YaHei"/>
              </a:rPr>
              <a:t>研究空白：缺少面向中型AI芯片企业、聚焦AI应用软件高迭代性/场景依赖性/数据驱动性的可操作化转化策略框架。</a:t>
            </a:r>
          </a:p>
        </p:txBody>
      </p:sp>
      <p:sp>
        <p:nvSpPr>
          <p:cNvPr id="14" name="TextBox 13"/>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三、T公司现状与面临的主要挑战</a:t>
            </a:r>
          </a:p>
          <a:p>
            <a:r>
              <a:rPr sz="1000">
                <a:solidFill>
                  <a:srgbClr val="DCE6F5"/>
                </a:solidFill>
                <a:latin typeface="Microsoft YaHei"/>
              </a:rPr>
              <a:t>案例企业深度扫描：有算力、无应用；外部压力与内部掣肘并存</a:t>
            </a:r>
          </a:p>
        </p:txBody>
      </p:sp>
      <p:sp>
        <p:nvSpPr>
          <p:cNvPr id="4" name="Rounded Rectangle 3"/>
          <p:cNvSpPr/>
          <p:nvPr/>
        </p:nvSpPr>
        <p:spPr>
          <a:xfrm>
            <a:off x="347472" y="914400"/>
            <a:ext cx="3520440" cy="242316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914400"/>
            <a:ext cx="109728" cy="242316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024128"/>
            <a:ext cx="3200400" cy="320040"/>
          </a:xfrm>
          <a:prstGeom prst="rect">
            <a:avLst/>
          </a:prstGeom>
          <a:noFill/>
        </p:spPr>
        <p:txBody>
          <a:bodyPr wrap="square" anchor="t">
            <a:noAutofit/>
          </a:bodyPr>
          <a:lstStyle/>
          <a:p>
            <a:pPr algn="l"/>
            <a:r>
              <a:rPr sz="1600" b="1">
                <a:solidFill>
                  <a:srgbClr val="132B4D"/>
                </a:solidFill>
                <a:latin typeface="Microsoft YaHei"/>
              </a:rPr>
              <a:t>T公司现状</a:t>
            </a:r>
          </a:p>
        </p:txBody>
      </p:sp>
      <p:sp>
        <p:nvSpPr>
          <p:cNvPr id="7" name="TextBox 6"/>
          <p:cNvSpPr txBox="1"/>
          <p:nvPr/>
        </p:nvSpPr>
        <p:spPr>
          <a:xfrm>
            <a:off x="530352" y="1371600"/>
            <a:ext cx="3200400" cy="1856232"/>
          </a:xfrm>
          <a:prstGeom prst="rect">
            <a:avLst/>
          </a:prstGeom>
          <a:noFill/>
        </p:spPr>
        <p:txBody>
          <a:bodyPr wrap="square">
            <a:spAutoFit/>
          </a:bodyPr>
          <a:lstStyle/>
          <a:p>
            <a:r>
              <a:rPr sz="1200">
                <a:solidFill>
                  <a:srgbClr val="1F2937"/>
                </a:solidFill>
                <a:latin typeface="Microsoft YaHei"/>
              </a:rPr>
              <a:t>• 具备自研AI芯片与底层算子库/编译优化能力。</a:t>
            </a:r>
          </a:p>
          <a:p>
            <a:r>
              <a:rPr sz="1200">
                <a:solidFill>
                  <a:srgbClr val="1F2937"/>
                </a:solidFill>
                <a:latin typeface="Microsoft YaHei"/>
              </a:rPr>
              <a:t>• 硬件算力性能处于行业领先区间。</a:t>
            </a:r>
          </a:p>
          <a:p>
            <a:r>
              <a:rPr sz="1200">
                <a:solidFill>
                  <a:srgbClr val="1F2937"/>
                </a:solidFill>
                <a:latin typeface="Microsoft YaHei"/>
              </a:rPr>
              <a:t>• 存在软件技术成果储备，但转化效能偏弱。</a:t>
            </a:r>
          </a:p>
          <a:p>
            <a:r>
              <a:rPr sz="1200">
                <a:solidFill>
                  <a:srgbClr val="1F2937"/>
                </a:solidFill>
                <a:latin typeface="Microsoft YaHei"/>
              </a:rPr>
              <a:t>• 陷入"有算力、无应用"困境，芯片差异化竞争受限。</a:t>
            </a:r>
          </a:p>
        </p:txBody>
      </p:sp>
      <p:sp>
        <p:nvSpPr>
          <p:cNvPr id="8" name="Rounded Rectangle 7"/>
          <p:cNvSpPr/>
          <p:nvPr/>
        </p:nvSpPr>
        <p:spPr>
          <a:xfrm>
            <a:off x="347472" y="3520440"/>
            <a:ext cx="3520440" cy="804672"/>
          </a:xfrm>
          <a:prstGeom prst="roundRect">
            <a:avLst/>
          </a:prstGeom>
          <a:solidFill>
            <a:srgbClr val="FFF7ED"/>
          </a:solidFill>
          <a:ln>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3639312"/>
            <a:ext cx="3200400" cy="502920"/>
          </a:xfrm>
          <a:prstGeom prst="rect">
            <a:avLst/>
          </a:prstGeom>
          <a:noFill/>
        </p:spPr>
        <p:txBody>
          <a:bodyPr wrap="square" anchor="t">
            <a:noAutofit/>
          </a:bodyPr>
          <a:lstStyle/>
          <a:p>
            <a:pPr algn="l"/>
            <a:r>
              <a:rPr sz="1200" b="0">
                <a:solidFill>
                  <a:srgbClr val="1F2937"/>
                </a:solidFill>
                <a:latin typeface="Microsoft YaHei"/>
              </a:rPr>
              <a:t>症结："强硬件、弱应用、轻运营"导致</a:t>
            </a:r>
          </a:p>
          <a:p>
            <a:pPr algn="l"/>
            <a:r>
              <a:rPr sz="1200" b="0">
                <a:solidFill>
                  <a:srgbClr val="1F2937"/>
                </a:solidFill>
                <a:latin typeface="Microsoft YaHei"/>
              </a:rPr>
              <a:t>技术成果向商业价值转化效率偏低。</a:t>
            </a:r>
          </a:p>
        </p:txBody>
      </p:sp>
      <p:sp>
        <p:nvSpPr>
          <p:cNvPr id="10" name="Chevron 9"/>
          <p:cNvSpPr/>
          <p:nvPr/>
        </p:nvSpPr>
        <p:spPr>
          <a:xfrm>
            <a:off x="365760" y="4480560"/>
            <a:ext cx="1234440" cy="566928"/>
          </a:xfrm>
          <a:prstGeom prst="chevron">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应用未铺开</a:t>
            </a:r>
          </a:p>
        </p:txBody>
      </p:sp>
      <p:sp>
        <p:nvSpPr>
          <p:cNvPr id="11" name="Chevron 10"/>
          <p:cNvSpPr/>
          <p:nvPr/>
        </p:nvSpPr>
        <p:spPr>
          <a:xfrm>
            <a:off x="1508760" y="4480560"/>
            <a:ext cx="1234440" cy="566928"/>
          </a:xfrm>
          <a:prstGeom prst="chevron">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体验不显性</a:t>
            </a:r>
          </a:p>
        </p:txBody>
      </p:sp>
      <p:sp>
        <p:nvSpPr>
          <p:cNvPr id="12" name="Chevron 11"/>
          <p:cNvSpPr/>
          <p:nvPr/>
        </p:nvSpPr>
        <p:spPr>
          <a:xfrm>
            <a:off x="2651760" y="4480560"/>
            <a:ext cx="1234440" cy="566928"/>
          </a:xfrm>
          <a:prstGeom prst="chevron">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销售拉动弱</a:t>
            </a:r>
          </a:p>
        </p:txBody>
      </p:sp>
      <p:sp>
        <p:nvSpPr>
          <p:cNvPr id="13" name="Rounded Rectangle 12"/>
          <p:cNvSpPr/>
          <p:nvPr/>
        </p:nvSpPr>
        <p:spPr>
          <a:xfrm>
            <a:off x="4114800" y="914400"/>
            <a:ext cx="3794760" cy="48006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0" y="914400"/>
            <a:ext cx="109728" cy="4800600"/>
          </a:xfrm>
          <a:prstGeom prst="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024128"/>
            <a:ext cx="3474720" cy="320040"/>
          </a:xfrm>
          <a:prstGeom prst="rect">
            <a:avLst/>
          </a:prstGeom>
          <a:noFill/>
        </p:spPr>
        <p:txBody>
          <a:bodyPr wrap="square" anchor="t">
            <a:noAutofit/>
          </a:bodyPr>
          <a:lstStyle/>
          <a:p>
            <a:pPr algn="l"/>
            <a:r>
              <a:rPr sz="1600" b="1">
                <a:solidFill>
                  <a:srgbClr val="132B4D"/>
                </a:solidFill>
                <a:latin typeface="Microsoft YaHei"/>
              </a:rPr>
              <a:t>外部行业挑战</a:t>
            </a:r>
          </a:p>
        </p:txBody>
      </p:sp>
      <p:sp>
        <p:nvSpPr>
          <p:cNvPr id="16" name="TextBox 15"/>
          <p:cNvSpPr txBox="1"/>
          <p:nvPr/>
        </p:nvSpPr>
        <p:spPr>
          <a:xfrm>
            <a:off x="4297680" y="1371600"/>
            <a:ext cx="3474720" cy="4233672"/>
          </a:xfrm>
          <a:prstGeom prst="rect">
            <a:avLst/>
          </a:prstGeom>
          <a:noFill/>
        </p:spPr>
        <p:txBody>
          <a:bodyPr wrap="square">
            <a:spAutoFit/>
          </a:bodyPr>
          <a:lstStyle/>
          <a:p>
            <a:r>
              <a:rPr sz="1200">
                <a:solidFill>
                  <a:srgbClr val="1F2937"/>
                </a:solidFill>
                <a:latin typeface="Microsoft YaHei"/>
              </a:rPr>
              <a:t>• 全球范围内上层应用独立变现仍是难题，客户付费意愿有限。</a:t>
            </a:r>
          </a:p>
          <a:p>
            <a:r>
              <a:rPr sz="1200">
                <a:solidFill>
                  <a:srgbClr val="1F2937"/>
                </a:solidFill>
                <a:latin typeface="Microsoft YaHei"/>
              </a:rPr>
              <a:t>• 终端需求差异化显著，通用型应用难落地，定制化推高成本。</a:t>
            </a:r>
          </a:p>
          <a:p>
            <a:r>
              <a:rPr sz="1200">
                <a:solidFill>
                  <a:srgbClr val="1F2937"/>
                </a:solidFill>
                <a:latin typeface="Microsoft YaHei"/>
              </a:rPr>
              <a:t>• 软硬件标准不统一，跨平台兼容和集成门槛高。</a:t>
            </a:r>
          </a:p>
          <a:p>
            <a:r>
              <a:rPr sz="1200">
                <a:solidFill>
                  <a:srgbClr val="1F2937"/>
                </a:solidFill>
                <a:latin typeface="Microsoft YaHei"/>
              </a:rPr>
              <a:t>• 用户对"无感智能"体验阈值持续提升。</a:t>
            </a:r>
          </a:p>
        </p:txBody>
      </p:sp>
      <p:sp>
        <p:nvSpPr>
          <p:cNvPr id="17" name="Rounded Rectangle 16"/>
          <p:cNvSpPr/>
          <p:nvPr/>
        </p:nvSpPr>
        <p:spPr>
          <a:xfrm>
            <a:off x="8065008" y="914400"/>
            <a:ext cx="3794760" cy="48006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914400"/>
            <a:ext cx="109728" cy="48006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024128"/>
            <a:ext cx="3474720" cy="320040"/>
          </a:xfrm>
          <a:prstGeom prst="rect">
            <a:avLst/>
          </a:prstGeom>
          <a:noFill/>
        </p:spPr>
        <p:txBody>
          <a:bodyPr wrap="square" anchor="t">
            <a:noAutofit/>
          </a:bodyPr>
          <a:lstStyle/>
          <a:p>
            <a:pPr algn="l"/>
            <a:r>
              <a:rPr sz="1600" b="1">
                <a:solidFill>
                  <a:srgbClr val="132B4D"/>
                </a:solidFill>
                <a:latin typeface="Microsoft YaHei"/>
              </a:rPr>
              <a:t>企业内部挑战</a:t>
            </a:r>
          </a:p>
        </p:txBody>
      </p:sp>
      <p:sp>
        <p:nvSpPr>
          <p:cNvPr id="20" name="TextBox 19"/>
          <p:cNvSpPr txBox="1"/>
          <p:nvPr/>
        </p:nvSpPr>
        <p:spPr>
          <a:xfrm>
            <a:off x="8247888" y="1371600"/>
            <a:ext cx="3474720" cy="4233672"/>
          </a:xfrm>
          <a:prstGeom prst="rect">
            <a:avLst/>
          </a:prstGeom>
          <a:noFill/>
        </p:spPr>
        <p:txBody>
          <a:bodyPr wrap="square">
            <a:spAutoFit/>
          </a:bodyPr>
          <a:lstStyle/>
          <a:p>
            <a:r>
              <a:rPr sz="1200">
                <a:solidFill>
                  <a:srgbClr val="1F2937"/>
                </a:solidFill>
                <a:latin typeface="Microsoft YaHei"/>
              </a:rPr>
              <a:t>• 经营理念偏硬件导向，应用研发结构不完善。</a:t>
            </a:r>
          </a:p>
          <a:p>
            <a:r>
              <a:rPr sz="1200">
                <a:solidFill>
                  <a:srgbClr val="1F2937"/>
                </a:solidFill>
                <a:latin typeface="Microsoft YaHei"/>
              </a:rPr>
              <a:t>• 组织协同不畅，市场信号难以快速传导到产品迭代。</a:t>
            </a:r>
          </a:p>
          <a:p>
            <a:r>
              <a:rPr sz="1200">
                <a:solidFill>
                  <a:srgbClr val="1F2937"/>
                </a:solidFill>
                <a:latin typeface="Microsoft YaHei"/>
              </a:rPr>
              <a:t>• 应用差异化不足，难以建立软件护城河。</a:t>
            </a:r>
          </a:p>
          <a:p>
            <a:r>
              <a:rPr sz="1200">
                <a:solidFill>
                  <a:srgbClr val="1F2937"/>
                </a:solidFill>
                <a:latin typeface="Microsoft YaHei"/>
              </a:rPr>
              <a:t>• 软件资产价值被低估，商业模式仍以捆绑销售为主。</a:t>
            </a:r>
          </a:p>
          <a:p>
            <a:r>
              <a:rPr sz="1200">
                <a:solidFill>
                  <a:srgbClr val="1F2937"/>
                </a:solidFill>
                <a:latin typeface="Microsoft YaHei"/>
              </a:rPr>
              <a:t>• 市场宣传和渠道触达偏弱，优质成果缺乏外部认知。</a:t>
            </a:r>
          </a:p>
        </p:txBody>
      </p:sp>
      <p:sp>
        <p:nvSpPr>
          <p:cNvPr id="21" name="TextBox 20"/>
          <p:cNvSpPr txBox="1"/>
          <p:nvPr/>
        </p:nvSpPr>
        <p:spPr>
          <a:xfrm>
            <a:off x="914400" y="5852160"/>
            <a:ext cx="10058400" cy="320040"/>
          </a:xfrm>
          <a:prstGeom prst="rect">
            <a:avLst/>
          </a:prstGeom>
          <a:noFill/>
        </p:spPr>
        <p:txBody>
          <a:bodyPr wrap="square" anchor="t">
            <a:noAutofit/>
          </a:bodyPr>
          <a:lstStyle/>
          <a:p>
            <a:pPr algn="ctr"/>
            <a:r>
              <a:rPr sz="1500" b="1">
                <a:solidFill>
                  <a:srgbClr val="132B4D"/>
                </a:solidFill>
                <a:latin typeface="Microsoft YaHei"/>
              </a:rPr>
              <a:t>挑战本质：不是"有没有软件"，而是"软件是否能持续创造体验价值并转化为商业结果"。</a:t>
            </a:r>
          </a:p>
        </p:txBody>
      </p:sp>
      <p:sp>
        <p:nvSpPr>
          <p:cNvPr id="22" name="TextBox 21"/>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四、研究目标与拟解决的关键问题</a:t>
            </a:r>
          </a:p>
          <a:p>
            <a:r>
              <a:rPr sz="1000">
                <a:solidFill>
                  <a:srgbClr val="DCE6F5"/>
                </a:solidFill>
                <a:latin typeface="Microsoft YaHei"/>
              </a:rPr>
              <a:t>围绕"识别问题—设计策略—推动落地"构建研究任务</a:t>
            </a:r>
          </a:p>
        </p:txBody>
      </p:sp>
      <p:sp>
        <p:nvSpPr>
          <p:cNvPr id="4" name="Rounded Rectangle 3"/>
          <p:cNvSpPr/>
          <p:nvPr/>
        </p:nvSpPr>
        <p:spPr>
          <a:xfrm>
            <a:off x="411480" y="914400"/>
            <a:ext cx="11384280" cy="658368"/>
          </a:xfrm>
          <a:prstGeom prst="roundRect">
            <a:avLst/>
          </a:prstGeom>
          <a:solidFill>
            <a:srgbClr val="E6EFFA"/>
          </a:solidFill>
          <a:ln>
            <a:solidFill>
              <a:srgbClr val="3A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914400"/>
            <a:ext cx="164592" cy="658368"/>
          </a:xfrm>
          <a:prstGeom prst="rect">
            <a:avLst/>
          </a:prstGeom>
          <a:solidFill>
            <a:srgbClr val="3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024128"/>
            <a:ext cx="10789920" cy="457200"/>
          </a:xfrm>
          <a:prstGeom prst="rect">
            <a:avLst/>
          </a:prstGeom>
          <a:noFill/>
        </p:spPr>
        <p:txBody>
          <a:bodyPr wrap="square" anchor="t">
            <a:noAutofit/>
          </a:bodyPr>
          <a:lstStyle/>
          <a:p>
            <a:pPr algn="l"/>
            <a:r>
              <a:rPr sz="1400" b="1">
                <a:solidFill>
                  <a:srgbClr val="132B4D"/>
                </a:solidFill>
                <a:latin typeface="Microsoft YaHei"/>
              </a:rPr>
              <a:t>总目标：为T公司构建一套以AI应用软件直接变现或通过软件体验带动芯片销售的技术成果转化策略，涵盖战略定位、组织架构、产品迭代、市场路径与商业模式六大维度。</a:t>
            </a:r>
          </a:p>
        </p:txBody>
      </p:sp>
      <p:sp>
        <p:nvSpPr>
          <p:cNvPr id="7" name="TextBox 6"/>
          <p:cNvSpPr txBox="1"/>
          <p:nvPr/>
        </p:nvSpPr>
        <p:spPr>
          <a:xfrm>
            <a:off x="502920" y="1828800"/>
            <a:ext cx="4572000" cy="274320"/>
          </a:xfrm>
          <a:prstGeom prst="rect">
            <a:avLst/>
          </a:prstGeom>
          <a:noFill/>
        </p:spPr>
        <p:txBody>
          <a:bodyPr wrap="square" anchor="t">
            <a:noAutofit/>
          </a:bodyPr>
          <a:lstStyle/>
          <a:p>
            <a:pPr algn="l"/>
            <a:r>
              <a:rPr sz="1700" b="1">
                <a:solidFill>
                  <a:srgbClr val="132B4D"/>
                </a:solidFill>
                <a:latin typeface="Microsoft YaHei"/>
              </a:rPr>
              <a:t>细分目标</a:t>
            </a:r>
          </a:p>
        </p:txBody>
      </p:sp>
      <p:sp>
        <p:nvSpPr>
          <p:cNvPr id="8" name="Rounded Rectangle 7"/>
          <p:cNvSpPr/>
          <p:nvPr/>
        </p:nvSpPr>
        <p:spPr>
          <a:xfrm>
            <a:off x="548640" y="2286000"/>
            <a:ext cx="566928" cy="36576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icrosoft YaHei"/>
              </a:rPr>
              <a:t>A</a:t>
            </a:r>
          </a:p>
        </p:txBody>
      </p:sp>
      <p:sp>
        <p:nvSpPr>
          <p:cNvPr id="9" name="Rounded Rectangle 8"/>
          <p:cNvSpPr/>
          <p:nvPr/>
        </p:nvSpPr>
        <p:spPr>
          <a:xfrm>
            <a:off x="1261872" y="2267712"/>
            <a:ext cx="3657600" cy="621792"/>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1328" y="2350008"/>
            <a:ext cx="3200400" cy="438912"/>
          </a:xfrm>
          <a:prstGeom prst="rect">
            <a:avLst/>
          </a:prstGeom>
          <a:noFill/>
        </p:spPr>
        <p:txBody>
          <a:bodyPr wrap="square" anchor="t">
            <a:noAutofit/>
          </a:bodyPr>
          <a:lstStyle/>
          <a:p>
            <a:pPr algn="l"/>
            <a:r>
              <a:rPr sz="1200" b="0">
                <a:solidFill>
                  <a:srgbClr val="1F2937"/>
                </a:solidFill>
                <a:latin typeface="Microsoft YaHei"/>
              </a:rPr>
              <a:t>商业模式识别：梳理主流商业化模式，输出适合T公司的模式选择。</a:t>
            </a:r>
          </a:p>
        </p:txBody>
      </p:sp>
      <p:sp>
        <p:nvSpPr>
          <p:cNvPr id="11" name="Rounded Rectangle 10"/>
          <p:cNvSpPr/>
          <p:nvPr/>
        </p:nvSpPr>
        <p:spPr>
          <a:xfrm>
            <a:off x="548640" y="3108960"/>
            <a:ext cx="566928" cy="36576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icrosoft YaHei"/>
              </a:rPr>
              <a:t>B</a:t>
            </a:r>
          </a:p>
        </p:txBody>
      </p:sp>
      <p:sp>
        <p:nvSpPr>
          <p:cNvPr id="12" name="Rounded Rectangle 11"/>
          <p:cNvSpPr/>
          <p:nvPr/>
        </p:nvSpPr>
        <p:spPr>
          <a:xfrm>
            <a:off x="1261872" y="3090672"/>
            <a:ext cx="3657600" cy="621792"/>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1328" y="3172968"/>
            <a:ext cx="3200400" cy="438912"/>
          </a:xfrm>
          <a:prstGeom prst="rect">
            <a:avLst/>
          </a:prstGeom>
          <a:noFill/>
        </p:spPr>
        <p:txBody>
          <a:bodyPr wrap="square" anchor="t">
            <a:noAutofit/>
          </a:bodyPr>
          <a:lstStyle/>
          <a:p>
            <a:pPr algn="l"/>
            <a:r>
              <a:rPr sz="1200" b="0">
                <a:solidFill>
                  <a:srgbClr val="1F2937"/>
                </a:solidFill>
                <a:latin typeface="Microsoft YaHei"/>
              </a:rPr>
              <a:t>转化瓶颈诊断：盘点软件存量、量化瓶颈，形成问题优先级清单。</a:t>
            </a:r>
          </a:p>
        </p:txBody>
      </p:sp>
      <p:sp>
        <p:nvSpPr>
          <p:cNvPr id="14" name="Rounded Rectangle 13"/>
          <p:cNvSpPr/>
          <p:nvPr/>
        </p:nvSpPr>
        <p:spPr>
          <a:xfrm>
            <a:off x="548640" y="3931920"/>
            <a:ext cx="566928" cy="36576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icrosoft YaHei"/>
              </a:rPr>
              <a:t>C</a:t>
            </a:r>
          </a:p>
        </p:txBody>
      </p:sp>
      <p:sp>
        <p:nvSpPr>
          <p:cNvPr id="15" name="Rounded Rectangle 14"/>
          <p:cNvSpPr/>
          <p:nvPr/>
        </p:nvSpPr>
        <p:spPr>
          <a:xfrm>
            <a:off x="1261872" y="3913632"/>
            <a:ext cx="3657600" cy="621792"/>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81328" y="3995928"/>
            <a:ext cx="3200400" cy="438912"/>
          </a:xfrm>
          <a:prstGeom prst="rect">
            <a:avLst/>
          </a:prstGeom>
          <a:noFill/>
        </p:spPr>
        <p:txBody>
          <a:bodyPr wrap="square" anchor="t">
            <a:noAutofit/>
          </a:bodyPr>
          <a:lstStyle/>
          <a:p>
            <a:pPr algn="l"/>
            <a:r>
              <a:rPr sz="1200" b="0">
                <a:solidFill>
                  <a:srgbClr val="1F2937"/>
                </a:solidFill>
                <a:latin typeface="Microsoft YaHei"/>
              </a:rPr>
              <a:t>差异化转化策略：针对直接变现型/芯片带动型软件设计不同策略与定价。</a:t>
            </a:r>
          </a:p>
        </p:txBody>
      </p:sp>
      <p:sp>
        <p:nvSpPr>
          <p:cNvPr id="17" name="Rounded Rectangle 16"/>
          <p:cNvSpPr/>
          <p:nvPr/>
        </p:nvSpPr>
        <p:spPr>
          <a:xfrm>
            <a:off x="548640" y="4754880"/>
            <a:ext cx="566928" cy="36576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icrosoft YaHei"/>
              </a:rPr>
              <a:t>D</a:t>
            </a:r>
          </a:p>
        </p:txBody>
      </p:sp>
      <p:sp>
        <p:nvSpPr>
          <p:cNvPr id="18" name="Rounded Rectangle 17"/>
          <p:cNvSpPr/>
          <p:nvPr/>
        </p:nvSpPr>
        <p:spPr>
          <a:xfrm>
            <a:off x="1261872" y="4736592"/>
            <a:ext cx="3657600" cy="621792"/>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81328" y="4818888"/>
            <a:ext cx="3200400" cy="438912"/>
          </a:xfrm>
          <a:prstGeom prst="rect">
            <a:avLst/>
          </a:prstGeom>
          <a:noFill/>
        </p:spPr>
        <p:txBody>
          <a:bodyPr wrap="square" anchor="t">
            <a:noAutofit/>
          </a:bodyPr>
          <a:lstStyle/>
          <a:p>
            <a:pPr algn="l"/>
            <a:r>
              <a:rPr sz="1200" b="0">
                <a:solidFill>
                  <a:srgbClr val="1F2937"/>
                </a:solidFill>
                <a:latin typeface="Microsoft YaHei"/>
              </a:rPr>
              <a:t>战略落地路径：基于PEST-SWOT确定应用软件转化的战略定位与方向。</a:t>
            </a:r>
          </a:p>
        </p:txBody>
      </p:sp>
      <p:sp>
        <p:nvSpPr>
          <p:cNvPr id="20" name="TextBox 19"/>
          <p:cNvSpPr txBox="1"/>
          <p:nvPr/>
        </p:nvSpPr>
        <p:spPr>
          <a:xfrm>
            <a:off x="5669280" y="1828800"/>
            <a:ext cx="5029200" cy="274320"/>
          </a:xfrm>
          <a:prstGeom prst="rect">
            <a:avLst/>
          </a:prstGeom>
          <a:noFill/>
        </p:spPr>
        <p:txBody>
          <a:bodyPr wrap="square" anchor="t">
            <a:noAutofit/>
          </a:bodyPr>
          <a:lstStyle/>
          <a:p>
            <a:pPr algn="l"/>
            <a:r>
              <a:rPr sz="1700" b="1">
                <a:solidFill>
                  <a:srgbClr val="132B4D"/>
                </a:solidFill>
                <a:latin typeface="Microsoft YaHei"/>
              </a:rPr>
              <a:t>拟解决的关键问题</a:t>
            </a:r>
          </a:p>
        </p:txBody>
      </p:sp>
      <p:sp>
        <p:nvSpPr>
          <p:cNvPr id="21" name="Oval 20"/>
          <p:cNvSpPr/>
          <p:nvPr/>
        </p:nvSpPr>
        <p:spPr>
          <a:xfrm>
            <a:off x="5715000" y="2286000"/>
            <a:ext cx="475488" cy="475488"/>
          </a:xfrm>
          <a:prstGeom prst="ellipse">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1</a:t>
            </a:r>
          </a:p>
        </p:txBody>
      </p:sp>
      <p:sp>
        <p:nvSpPr>
          <p:cNvPr id="22" name="Rounded Rectangle 21"/>
          <p:cNvSpPr/>
          <p:nvPr/>
        </p:nvSpPr>
        <p:spPr>
          <a:xfrm>
            <a:off x="6336792" y="2267712"/>
            <a:ext cx="470916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2350008"/>
            <a:ext cx="4251960" cy="475488"/>
          </a:xfrm>
          <a:prstGeom prst="rect">
            <a:avLst/>
          </a:prstGeom>
          <a:noFill/>
        </p:spPr>
        <p:txBody>
          <a:bodyPr wrap="square" anchor="t">
            <a:noAutofit/>
          </a:bodyPr>
          <a:lstStyle/>
          <a:p>
            <a:pPr algn="l"/>
            <a:r>
              <a:rPr sz="1200" b="0">
                <a:solidFill>
                  <a:srgbClr val="1F2937"/>
                </a:solidFill>
                <a:latin typeface="Microsoft YaHei"/>
              </a:rPr>
              <a:t>如何从"硬件中心"转向"应用与体验中心"的分析框架？</a:t>
            </a:r>
          </a:p>
        </p:txBody>
      </p:sp>
      <p:sp>
        <p:nvSpPr>
          <p:cNvPr id="24" name="Oval 23"/>
          <p:cNvSpPr/>
          <p:nvPr/>
        </p:nvSpPr>
        <p:spPr>
          <a:xfrm>
            <a:off x="5715000" y="3246120"/>
            <a:ext cx="475488" cy="475488"/>
          </a:xfrm>
          <a:prstGeom prst="ellipse">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2</a:t>
            </a:r>
          </a:p>
        </p:txBody>
      </p:sp>
      <p:sp>
        <p:nvSpPr>
          <p:cNvPr id="25" name="Rounded Rectangle 24"/>
          <p:cNvSpPr/>
          <p:nvPr/>
        </p:nvSpPr>
        <p:spPr>
          <a:xfrm>
            <a:off x="6336792" y="3227832"/>
            <a:ext cx="470916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310128"/>
            <a:ext cx="4251960" cy="475488"/>
          </a:xfrm>
          <a:prstGeom prst="rect">
            <a:avLst/>
          </a:prstGeom>
          <a:noFill/>
        </p:spPr>
        <p:txBody>
          <a:bodyPr wrap="square" anchor="t">
            <a:noAutofit/>
          </a:bodyPr>
          <a:lstStyle/>
          <a:p>
            <a:pPr algn="l"/>
            <a:r>
              <a:rPr sz="1200" b="0">
                <a:solidFill>
                  <a:srgbClr val="1F2937"/>
                </a:solidFill>
                <a:latin typeface="Microsoft YaHei"/>
              </a:rPr>
              <a:t>T公司应用软件对芯片销售贡献度偏低的症结何在？</a:t>
            </a:r>
          </a:p>
        </p:txBody>
      </p:sp>
      <p:sp>
        <p:nvSpPr>
          <p:cNvPr id="27" name="Oval 26"/>
          <p:cNvSpPr/>
          <p:nvPr/>
        </p:nvSpPr>
        <p:spPr>
          <a:xfrm>
            <a:off x="5715000" y="4206240"/>
            <a:ext cx="475488" cy="475488"/>
          </a:xfrm>
          <a:prstGeom prst="ellipse">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3</a:t>
            </a:r>
          </a:p>
        </p:txBody>
      </p:sp>
      <p:sp>
        <p:nvSpPr>
          <p:cNvPr id="28" name="Rounded Rectangle 27"/>
          <p:cNvSpPr/>
          <p:nvPr/>
        </p:nvSpPr>
        <p:spPr>
          <a:xfrm>
            <a:off x="6336792" y="4187952"/>
            <a:ext cx="470916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4270248"/>
            <a:ext cx="4251960" cy="475488"/>
          </a:xfrm>
          <a:prstGeom prst="rect">
            <a:avLst/>
          </a:prstGeom>
          <a:noFill/>
        </p:spPr>
        <p:txBody>
          <a:bodyPr wrap="square" anchor="t">
            <a:noAutofit/>
          </a:bodyPr>
          <a:lstStyle/>
          <a:p>
            <a:pPr algn="l"/>
            <a:r>
              <a:rPr sz="1200" b="0">
                <a:solidFill>
                  <a:srgbClr val="1F2937"/>
                </a:solidFill>
                <a:latin typeface="Microsoft YaHei"/>
              </a:rPr>
              <a:t>如何设计适配AI应用软件特性的商业转化路径？</a:t>
            </a:r>
          </a:p>
        </p:txBody>
      </p:sp>
      <p:sp>
        <p:nvSpPr>
          <p:cNvPr id="30" name="Oval 29"/>
          <p:cNvSpPr/>
          <p:nvPr/>
        </p:nvSpPr>
        <p:spPr>
          <a:xfrm>
            <a:off x="5715000" y="5166360"/>
            <a:ext cx="475488" cy="475488"/>
          </a:xfrm>
          <a:prstGeom prst="ellipse">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4</a:t>
            </a:r>
          </a:p>
        </p:txBody>
      </p:sp>
      <p:sp>
        <p:nvSpPr>
          <p:cNvPr id="31" name="Rounded Rectangle 30"/>
          <p:cNvSpPr/>
          <p:nvPr/>
        </p:nvSpPr>
        <p:spPr>
          <a:xfrm>
            <a:off x="6336792" y="5148072"/>
            <a:ext cx="470916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65392" y="5230368"/>
            <a:ext cx="4251960" cy="475488"/>
          </a:xfrm>
          <a:prstGeom prst="rect">
            <a:avLst/>
          </a:prstGeom>
          <a:noFill/>
        </p:spPr>
        <p:txBody>
          <a:bodyPr wrap="square" anchor="t">
            <a:noAutofit/>
          </a:bodyPr>
          <a:lstStyle/>
          <a:p>
            <a:pPr algn="l"/>
            <a:r>
              <a:rPr sz="1200" b="0">
                <a:solidFill>
                  <a:srgbClr val="1F2937"/>
                </a:solidFill>
                <a:latin typeface="Microsoft YaHei"/>
              </a:rPr>
              <a:t>如何建立长效的应用迭代与体验优化机制？</a:t>
            </a:r>
          </a:p>
        </p:txBody>
      </p:sp>
      <p:sp>
        <p:nvSpPr>
          <p:cNvPr id="33" name="TextBox 32"/>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五、研究内容、方法与技术路线</a:t>
            </a:r>
          </a:p>
          <a:p>
            <a:r>
              <a:rPr sz="1000">
                <a:solidFill>
                  <a:srgbClr val="DCE6F5"/>
                </a:solidFill>
                <a:latin typeface="Microsoft YaHei"/>
              </a:rPr>
              <a:t>研究遵循"理论铺垫—问题诊断—双轮驱动—策略落地"的逻辑链路</a:t>
            </a:r>
          </a:p>
        </p:txBody>
      </p:sp>
      <p:sp>
        <p:nvSpPr>
          <p:cNvPr id="4" name="TextBox 3"/>
          <p:cNvSpPr txBox="1"/>
          <p:nvPr/>
        </p:nvSpPr>
        <p:spPr>
          <a:xfrm>
            <a:off x="502920" y="914400"/>
            <a:ext cx="5029200" cy="274320"/>
          </a:xfrm>
          <a:prstGeom prst="rect">
            <a:avLst/>
          </a:prstGeom>
          <a:noFill/>
        </p:spPr>
        <p:txBody>
          <a:bodyPr wrap="square" anchor="t">
            <a:noAutofit/>
          </a:bodyPr>
          <a:lstStyle/>
          <a:p>
            <a:pPr algn="l"/>
            <a:r>
              <a:rPr sz="1800" b="1">
                <a:solidFill>
                  <a:srgbClr val="132B4D"/>
                </a:solidFill>
                <a:latin typeface="Microsoft YaHei"/>
              </a:rPr>
              <a:t>主要研究内容</a:t>
            </a:r>
          </a:p>
        </p:txBody>
      </p:sp>
      <p:sp>
        <p:nvSpPr>
          <p:cNvPr id="5" name="Rounded Rectangle 4"/>
          <p:cNvSpPr/>
          <p:nvPr/>
        </p:nvSpPr>
        <p:spPr>
          <a:xfrm>
            <a:off x="502920" y="1325880"/>
            <a:ext cx="2148840" cy="11887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874519" cy="320040"/>
          </a:xfrm>
          <a:prstGeom prst="rect">
            <a:avLst/>
          </a:prstGeom>
          <a:noFill/>
        </p:spPr>
        <p:txBody>
          <a:bodyPr wrap="square" anchor="t">
            <a:noAutofit/>
          </a:bodyPr>
          <a:lstStyle/>
          <a:p>
            <a:pPr algn="ctr"/>
            <a:r>
              <a:rPr sz="1600" b="1">
                <a:solidFill>
                  <a:srgbClr val="FFFFFF"/>
                </a:solidFill>
                <a:latin typeface="Microsoft YaHei"/>
              </a:rPr>
              <a:t>行业模式比较</a:t>
            </a:r>
          </a:p>
        </p:txBody>
      </p:sp>
      <p:sp>
        <p:nvSpPr>
          <p:cNvPr id="7" name="TextBox 6"/>
          <p:cNvSpPr txBox="1"/>
          <p:nvPr/>
        </p:nvSpPr>
        <p:spPr>
          <a:xfrm>
            <a:off x="612648" y="1828800"/>
            <a:ext cx="1920240" cy="457200"/>
          </a:xfrm>
          <a:prstGeom prst="rect">
            <a:avLst/>
          </a:prstGeom>
          <a:noFill/>
        </p:spPr>
        <p:txBody>
          <a:bodyPr wrap="square" anchor="t">
            <a:noAutofit/>
          </a:bodyPr>
          <a:lstStyle/>
          <a:p>
            <a:pPr algn="ctr"/>
            <a:r>
              <a:rPr sz="1100" b="0">
                <a:solidFill>
                  <a:srgbClr val="FFFFFF"/>
                </a:solidFill>
                <a:latin typeface="Microsoft YaHei"/>
              </a:rPr>
              <a:t>比较SaaS、API计费、软硬一体、整体解决方案等模式。</a:t>
            </a:r>
          </a:p>
        </p:txBody>
      </p:sp>
      <p:sp>
        <p:nvSpPr>
          <p:cNvPr id="8" name="Rounded Rectangle 7"/>
          <p:cNvSpPr/>
          <p:nvPr/>
        </p:nvSpPr>
        <p:spPr>
          <a:xfrm>
            <a:off x="2971800" y="1325880"/>
            <a:ext cx="2148840" cy="1188720"/>
          </a:xfrm>
          <a:prstGeom prst="round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463040"/>
            <a:ext cx="1874519" cy="320040"/>
          </a:xfrm>
          <a:prstGeom prst="rect">
            <a:avLst/>
          </a:prstGeom>
          <a:noFill/>
        </p:spPr>
        <p:txBody>
          <a:bodyPr wrap="square" anchor="t">
            <a:noAutofit/>
          </a:bodyPr>
          <a:lstStyle/>
          <a:p>
            <a:pPr algn="ctr"/>
            <a:r>
              <a:rPr sz="1600" b="1">
                <a:solidFill>
                  <a:srgbClr val="FFFFFF"/>
                </a:solidFill>
                <a:latin typeface="Microsoft YaHei"/>
              </a:rPr>
              <a:t>T公司现状诊断</a:t>
            </a:r>
          </a:p>
        </p:txBody>
      </p:sp>
      <p:sp>
        <p:nvSpPr>
          <p:cNvPr id="10" name="TextBox 9"/>
          <p:cNvSpPr txBox="1"/>
          <p:nvPr/>
        </p:nvSpPr>
        <p:spPr>
          <a:xfrm>
            <a:off x="3081528" y="1828800"/>
            <a:ext cx="1920240" cy="457200"/>
          </a:xfrm>
          <a:prstGeom prst="rect">
            <a:avLst/>
          </a:prstGeom>
          <a:noFill/>
        </p:spPr>
        <p:txBody>
          <a:bodyPr wrap="square" anchor="t">
            <a:noAutofit/>
          </a:bodyPr>
          <a:lstStyle/>
          <a:p>
            <a:pPr algn="ctr"/>
            <a:r>
              <a:rPr sz="1100" b="0">
                <a:solidFill>
                  <a:srgbClr val="FFFFFF"/>
                </a:solidFill>
                <a:latin typeface="Microsoft YaHei"/>
              </a:rPr>
              <a:t>盘点成果储备、资源配置、组织架构与现有转化流程。</a:t>
            </a:r>
          </a:p>
        </p:txBody>
      </p:sp>
      <p:sp>
        <p:nvSpPr>
          <p:cNvPr id="11" name="Rounded Rectangle 10"/>
          <p:cNvSpPr/>
          <p:nvPr/>
        </p:nvSpPr>
        <p:spPr>
          <a:xfrm>
            <a:off x="5440680" y="1325880"/>
            <a:ext cx="2148840" cy="1188720"/>
          </a:xfrm>
          <a:prstGeom prst="round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463040"/>
            <a:ext cx="1874519" cy="320040"/>
          </a:xfrm>
          <a:prstGeom prst="rect">
            <a:avLst/>
          </a:prstGeom>
          <a:noFill/>
        </p:spPr>
        <p:txBody>
          <a:bodyPr wrap="square" anchor="t">
            <a:noAutofit/>
          </a:bodyPr>
          <a:lstStyle/>
          <a:p>
            <a:pPr algn="ctr"/>
            <a:r>
              <a:rPr sz="1600" b="1">
                <a:solidFill>
                  <a:srgbClr val="FFFFFF"/>
                </a:solidFill>
                <a:latin typeface="Microsoft YaHei"/>
              </a:rPr>
              <a:t>双轨策略设计</a:t>
            </a:r>
          </a:p>
        </p:txBody>
      </p:sp>
      <p:sp>
        <p:nvSpPr>
          <p:cNvPr id="13" name="TextBox 12"/>
          <p:cNvSpPr txBox="1"/>
          <p:nvPr/>
        </p:nvSpPr>
        <p:spPr>
          <a:xfrm>
            <a:off x="5550408" y="1828800"/>
            <a:ext cx="1920240" cy="457200"/>
          </a:xfrm>
          <a:prstGeom prst="rect">
            <a:avLst/>
          </a:prstGeom>
          <a:noFill/>
        </p:spPr>
        <p:txBody>
          <a:bodyPr wrap="square" anchor="t">
            <a:noAutofit/>
          </a:bodyPr>
          <a:lstStyle/>
          <a:p>
            <a:pPr algn="ctr"/>
            <a:r>
              <a:rPr sz="1100" b="0">
                <a:solidFill>
                  <a:srgbClr val="FFFFFF"/>
                </a:solidFill>
                <a:latin typeface="Microsoft YaHei"/>
              </a:rPr>
              <a:t>提出"软件变现+OEM拉动"的差异化转化方案。</a:t>
            </a:r>
          </a:p>
        </p:txBody>
      </p:sp>
      <p:sp>
        <p:nvSpPr>
          <p:cNvPr id="14" name="Rounded Rectangle 13"/>
          <p:cNvSpPr/>
          <p:nvPr/>
        </p:nvSpPr>
        <p:spPr>
          <a:xfrm>
            <a:off x="7909560" y="1325880"/>
            <a:ext cx="2148840" cy="118872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463040"/>
            <a:ext cx="1874519" cy="320040"/>
          </a:xfrm>
          <a:prstGeom prst="rect">
            <a:avLst/>
          </a:prstGeom>
          <a:noFill/>
        </p:spPr>
        <p:txBody>
          <a:bodyPr wrap="square" anchor="t">
            <a:noAutofit/>
          </a:bodyPr>
          <a:lstStyle/>
          <a:p>
            <a:pPr algn="ctr"/>
            <a:r>
              <a:rPr sz="1600" b="1">
                <a:solidFill>
                  <a:srgbClr val="FFFFFF"/>
                </a:solidFill>
                <a:latin typeface="Microsoft YaHei"/>
              </a:rPr>
              <a:t>保障与评估体系</a:t>
            </a:r>
          </a:p>
        </p:txBody>
      </p:sp>
      <p:sp>
        <p:nvSpPr>
          <p:cNvPr id="16" name="TextBox 15"/>
          <p:cNvSpPr txBox="1"/>
          <p:nvPr/>
        </p:nvSpPr>
        <p:spPr>
          <a:xfrm>
            <a:off x="8019288" y="1828800"/>
            <a:ext cx="1920240" cy="457200"/>
          </a:xfrm>
          <a:prstGeom prst="rect">
            <a:avLst/>
          </a:prstGeom>
          <a:noFill/>
        </p:spPr>
        <p:txBody>
          <a:bodyPr wrap="square" anchor="t">
            <a:noAutofit/>
          </a:bodyPr>
          <a:lstStyle/>
          <a:p>
            <a:pPr algn="ctr"/>
            <a:r>
              <a:rPr sz="1100" b="0">
                <a:solidFill>
                  <a:srgbClr val="FFFFFF"/>
                </a:solidFill>
                <a:latin typeface="Microsoft YaHei"/>
              </a:rPr>
              <a:t>建立推广机制、客户成功机制与效果评价体系。</a:t>
            </a:r>
          </a:p>
        </p:txBody>
      </p:sp>
      <p:sp>
        <p:nvSpPr>
          <p:cNvPr id="17" name="TextBox 16"/>
          <p:cNvSpPr txBox="1"/>
          <p:nvPr/>
        </p:nvSpPr>
        <p:spPr>
          <a:xfrm>
            <a:off x="502920" y="2880360"/>
            <a:ext cx="5029200" cy="274320"/>
          </a:xfrm>
          <a:prstGeom prst="rect">
            <a:avLst/>
          </a:prstGeom>
          <a:noFill/>
        </p:spPr>
        <p:txBody>
          <a:bodyPr wrap="square" anchor="t">
            <a:noAutofit/>
          </a:bodyPr>
          <a:lstStyle/>
          <a:p>
            <a:pPr algn="l"/>
            <a:r>
              <a:rPr sz="1800" b="1">
                <a:solidFill>
                  <a:srgbClr val="132B4D"/>
                </a:solidFill>
                <a:latin typeface="Microsoft YaHei"/>
              </a:rPr>
              <a:t>研究方法</a:t>
            </a:r>
          </a:p>
        </p:txBody>
      </p:sp>
      <p:sp>
        <p:nvSpPr>
          <p:cNvPr id="18" name="Rounded Rectangle 17"/>
          <p:cNvSpPr/>
          <p:nvPr/>
        </p:nvSpPr>
        <p:spPr>
          <a:xfrm>
            <a:off x="548640" y="3246120"/>
            <a:ext cx="1325880" cy="329184"/>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YaHei"/>
              </a:rPr>
              <a:t>文献研究法</a:t>
            </a:r>
          </a:p>
        </p:txBody>
      </p:sp>
      <p:sp>
        <p:nvSpPr>
          <p:cNvPr id="19" name="TextBox 18"/>
          <p:cNvSpPr txBox="1"/>
          <p:nvPr/>
        </p:nvSpPr>
        <p:spPr>
          <a:xfrm>
            <a:off x="2011680" y="3291840"/>
            <a:ext cx="2926080" cy="219456"/>
          </a:xfrm>
          <a:prstGeom prst="rect">
            <a:avLst/>
          </a:prstGeom>
          <a:noFill/>
        </p:spPr>
        <p:txBody>
          <a:bodyPr wrap="square" anchor="t">
            <a:noAutofit/>
          </a:bodyPr>
          <a:lstStyle/>
          <a:p>
            <a:pPr algn="l"/>
            <a:r>
              <a:rPr sz="1200" b="0">
                <a:solidFill>
                  <a:srgbClr val="1F2937"/>
                </a:solidFill>
                <a:latin typeface="Microsoft YaHei"/>
              </a:rPr>
              <a:t>界定概念边界与价值逻辑</a:t>
            </a:r>
          </a:p>
        </p:txBody>
      </p:sp>
      <p:sp>
        <p:nvSpPr>
          <p:cNvPr id="20" name="Rounded Rectangle 19"/>
          <p:cNvSpPr/>
          <p:nvPr/>
        </p:nvSpPr>
        <p:spPr>
          <a:xfrm>
            <a:off x="548640" y="3886200"/>
            <a:ext cx="1325880" cy="3291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YaHei"/>
              </a:rPr>
              <a:t>PEST/SWOT</a:t>
            </a:r>
          </a:p>
        </p:txBody>
      </p:sp>
      <p:sp>
        <p:nvSpPr>
          <p:cNvPr id="21" name="TextBox 20"/>
          <p:cNvSpPr txBox="1"/>
          <p:nvPr/>
        </p:nvSpPr>
        <p:spPr>
          <a:xfrm>
            <a:off x="2011680" y="3931920"/>
            <a:ext cx="2926080" cy="219456"/>
          </a:xfrm>
          <a:prstGeom prst="rect">
            <a:avLst/>
          </a:prstGeom>
          <a:noFill/>
        </p:spPr>
        <p:txBody>
          <a:bodyPr wrap="square" anchor="t">
            <a:noAutofit/>
          </a:bodyPr>
          <a:lstStyle/>
          <a:p>
            <a:pPr algn="l"/>
            <a:r>
              <a:rPr sz="1200" b="0">
                <a:solidFill>
                  <a:srgbClr val="1F2937"/>
                </a:solidFill>
                <a:latin typeface="Microsoft YaHei"/>
              </a:rPr>
              <a:t>判断外部环境与内部资源匹配</a:t>
            </a:r>
          </a:p>
        </p:txBody>
      </p:sp>
      <p:sp>
        <p:nvSpPr>
          <p:cNvPr id="22" name="Rounded Rectangle 21"/>
          <p:cNvSpPr/>
          <p:nvPr/>
        </p:nvSpPr>
        <p:spPr>
          <a:xfrm>
            <a:off x="548640" y="4526279"/>
            <a:ext cx="1325880" cy="329184"/>
          </a:xfrm>
          <a:prstGeom prst="round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YaHei"/>
              </a:rPr>
              <a:t>案例分析法</a:t>
            </a:r>
          </a:p>
        </p:txBody>
      </p:sp>
      <p:sp>
        <p:nvSpPr>
          <p:cNvPr id="23" name="TextBox 22"/>
          <p:cNvSpPr txBox="1"/>
          <p:nvPr/>
        </p:nvSpPr>
        <p:spPr>
          <a:xfrm>
            <a:off x="2011680" y="4571999"/>
            <a:ext cx="2926080" cy="219456"/>
          </a:xfrm>
          <a:prstGeom prst="rect">
            <a:avLst/>
          </a:prstGeom>
          <a:noFill/>
        </p:spPr>
        <p:txBody>
          <a:bodyPr wrap="square" anchor="t">
            <a:noAutofit/>
          </a:bodyPr>
          <a:lstStyle/>
          <a:p>
            <a:pPr algn="l"/>
            <a:r>
              <a:rPr sz="1200" b="0">
                <a:solidFill>
                  <a:srgbClr val="1F2937"/>
                </a:solidFill>
                <a:latin typeface="Microsoft YaHei"/>
              </a:rPr>
              <a:t>提炼标杆企业可借鉴经验</a:t>
            </a:r>
          </a:p>
        </p:txBody>
      </p:sp>
      <p:sp>
        <p:nvSpPr>
          <p:cNvPr id="24" name="Rounded Rectangle 23"/>
          <p:cNvSpPr/>
          <p:nvPr/>
        </p:nvSpPr>
        <p:spPr>
          <a:xfrm>
            <a:off x="548640" y="5166359"/>
            <a:ext cx="1325880" cy="329184"/>
          </a:xfrm>
          <a:prstGeom prst="round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YaHei"/>
              </a:rPr>
              <a:t>访谈调研法</a:t>
            </a:r>
          </a:p>
        </p:txBody>
      </p:sp>
      <p:sp>
        <p:nvSpPr>
          <p:cNvPr id="25" name="TextBox 24"/>
          <p:cNvSpPr txBox="1"/>
          <p:nvPr/>
        </p:nvSpPr>
        <p:spPr>
          <a:xfrm>
            <a:off x="2011680" y="5212079"/>
            <a:ext cx="2926080" cy="219456"/>
          </a:xfrm>
          <a:prstGeom prst="rect">
            <a:avLst/>
          </a:prstGeom>
          <a:noFill/>
        </p:spPr>
        <p:txBody>
          <a:bodyPr wrap="square" anchor="t">
            <a:noAutofit/>
          </a:bodyPr>
          <a:lstStyle/>
          <a:p>
            <a:pPr algn="l"/>
            <a:r>
              <a:rPr sz="1200" b="0">
                <a:solidFill>
                  <a:srgbClr val="1F2937"/>
                </a:solidFill>
                <a:latin typeface="Microsoft YaHei"/>
              </a:rPr>
              <a:t>获取企业/客户/终端用户一手数据</a:t>
            </a:r>
          </a:p>
        </p:txBody>
      </p:sp>
      <p:sp>
        <p:nvSpPr>
          <p:cNvPr id="26" name="TextBox 25"/>
          <p:cNvSpPr txBox="1"/>
          <p:nvPr/>
        </p:nvSpPr>
        <p:spPr>
          <a:xfrm>
            <a:off x="5806440" y="2880360"/>
            <a:ext cx="5029200" cy="274320"/>
          </a:xfrm>
          <a:prstGeom prst="rect">
            <a:avLst/>
          </a:prstGeom>
          <a:noFill/>
        </p:spPr>
        <p:txBody>
          <a:bodyPr wrap="square" anchor="t">
            <a:noAutofit/>
          </a:bodyPr>
          <a:lstStyle/>
          <a:p>
            <a:pPr algn="l"/>
            <a:r>
              <a:rPr sz="1800" b="1">
                <a:solidFill>
                  <a:srgbClr val="132B4D"/>
                </a:solidFill>
                <a:latin typeface="Microsoft YaHei"/>
              </a:rPr>
              <a:t>技术路线</a:t>
            </a:r>
          </a:p>
        </p:txBody>
      </p:sp>
      <p:sp>
        <p:nvSpPr>
          <p:cNvPr id="27" name="Chevron 26"/>
          <p:cNvSpPr/>
          <p:nvPr/>
        </p:nvSpPr>
        <p:spPr>
          <a:xfrm>
            <a:off x="5852160" y="3657600"/>
            <a:ext cx="960120" cy="777240"/>
          </a:xfrm>
          <a:prstGeom prst="chevron">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理论铺垫</a:t>
            </a:r>
          </a:p>
        </p:txBody>
      </p:sp>
      <p:sp>
        <p:nvSpPr>
          <p:cNvPr id="28" name="Chevron 27"/>
          <p:cNvSpPr/>
          <p:nvPr/>
        </p:nvSpPr>
        <p:spPr>
          <a:xfrm>
            <a:off x="6693408" y="3657600"/>
            <a:ext cx="960120" cy="777240"/>
          </a:xfrm>
          <a:prstGeom prst="chevron">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战略定位</a:t>
            </a:r>
          </a:p>
        </p:txBody>
      </p:sp>
      <p:sp>
        <p:nvSpPr>
          <p:cNvPr id="29" name="Chevron 28"/>
          <p:cNvSpPr/>
          <p:nvPr/>
        </p:nvSpPr>
        <p:spPr>
          <a:xfrm>
            <a:off x="7534656" y="3657600"/>
            <a:ext cx="960120" cy="777240"/>
          </a:xfrm>
          <a:prstGeom prst="chevron">
            <a:avLst/>
          </a:prstGeom>
          <a:solidFill>
            <a:srgbClr val="3A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行业分析</a:t>
            </a:r>
          </a:p>
        </p:txBody>
      </p:sp>
      <p:sp>
        <p:nvSpPr>
          <p:cNvPr id="30" name="Chevron 29"/>
          <p:cNvSpPr/>
          <p:nvPr/>
        </p:nvSpPr>
        <p:spPr>
          <a:xfrm>
            <a:off x="8375904" y="3657600"/>
            <a:ext cx="960120" cy="777240"/>
          </a:xfrm>
          <a:prstGeom prst="chevron">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问题诊断</a:t>
            </a:r>
          </a:p>
        </p:txBody>
      </p:sp>
      <p:sp>
        <p:nvSpPr>
          <p:cNvPr id="31" name="Chevron 30"/>
          <p:cNvSpPr/>
          <p:nvPr/>
        </p:nvSpPr>
        <p:spPr>
          <a:xfrm>
            <a:off x="9217152" y="3657600"/>
            <a:ext cx="960120" cy="777240"/>
          </a:xfrm>
          <a:prstGeom prst="chevron">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双轮驱动</a:t>
            </a:r>
          </a:p>
        </p:txBody>
      </p:sp>
      <p:sp>
        <p:nvSpPr>
          <p:cNvPr id="32" name="Chevron 31"/>
          <p:cNvSpPr/>
          <p:nvPr/>
        </p:nvSpPr>
        <p:spPr>
          <a:xfrm>
            <a:off x="10058400" y="3657600"/>
            <a:ext cx="960120" cy="777240"/>
          </a:xfrm>
          <a:prstGeom prst="chevron">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策略设计</a:t>
            </a:r>
          </a:p>
        </p:txBody>
      </p:sp>
      <p:sp>
        <p:nvSpPr>
          <p:cNvPr id="33" name="Chevron 32"/>
          <p:cNvSpPr/>
          <p:nvPr/>
        </p:nvSpPr>
        <p:spPr>
          <a:xfrm>
            <a:off x="10899648" y="3657600"/>
            <a:ext cx="960120" cy="777240"/>
          </a:xfrm>
          <a:prstGeom prst="chevron">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icrosoft YaHei"/>
              </a:rPr>
              <a:t>完善输出</a:t>
            </a:r>
          </a:p>
        </p:txBody>
      </p:sp>
      <p:sp>
        <p:nvSpPr>
          <p:cNvPr id="34" name="TextBox 33"/>
          <p:cNvSpPr txBox="1"/>
          <p:nvPr/>
        </p:nvSpPr>
        <p:spPr>
          <a:xfrm>
            <a:off x="5897880" y="4709160"/>
            <a:ext cx="5074920" cy="457200"/>
          </a:xfrm>
          <a:prstGeom prst="rect">
            <a:avLst/>
          </a:prstGeom>
          <a:noFill/>
        </p:spPr>
        <p:txBody>
          <a:bodyPr wrap="square" anchor="t">
            <a:noAutofit/>
          </a:bodyPr>
          <a:lstStyle/>
          <a:p>
            <a:pPr algn="ctr"/>
            <a:r>
              <a:rPr sz="1500" b="1">
                <a:solidFill>
                  <a:srgbClr val="132B4D"/>
                </a:solidFill>
                <a:latin typeface="Microsoft YaHei"/>
              </a:rPr>
              <a:t>核心产出：可执行的T公司AI应用软件成果转化策略与评价框架。</a:t>
            </a:r>
          </a:p>
        </p:txBody>
      </p:sp>
      <p:sp>
        <p:nvSpPr>
          <p:cNvPr id="35" name="TextBox 34"/>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六、核心策略框架：双轮驱动成果转化体系</a:t>
            </a:r>
          </a:p>
          <a:p>
            <a:r>
              <a:rPr sz="1000">
                <a:solidFill>
                  <a:srgbClr val="DCE6F5"/>
                </a:solidFill>
                <a:latin typeface="Microsoft YaHei"/>
              </a:rPr>
              <a:t>通过"软件直接变现 + OEM集成拉动"实现技术价值与商业价值同步提升</a:t>
            </a:r>
          </a:p>
        </p:txBody>
      </p:sp>
      <p:sp>
        <p:nvSpPr>
          <p:cNvPr id="4" name="Hexagon 3"/>
          <p:cNvSpPr/>
          <p:nvPr/>
        </p:nvSpPr>
        <p:spPr>
          <a:xfrm>
            <a:off x="4983480" y="2011680"/>
            <a:ext cx="2194560" cy="1325880"/>
          </a:xfrm>
          <a:prstGeom prst="hexagon">
            <a:avLst/>
          </a:prstGeom>
          <a:solidFill>
            <a:srgbClr val="E6EFFA"/>
          </a:solidFill>
          <a:ln>
            <a:solidFill>
              <a:srgbClr val="3A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32B4D"/>
                </a:solidFill>
                <a:latin typeface="Microsoft YaHei"/>
              </a:rPr>
              <a:t>T公司
AI应用软件</a:t>
            </a:r>
          </a:p>
        </p:txBody>
      </p:sp>
      <p:sp>
        <p:nvSpPr>
          <p:cNvPr id="5" name="Oval 4"/>
          <p:cNvSpPr/>
          <p:nvPr/>
        </p:nvSpPr>
        <p:spPr>
          <a:xfrm>
            <a:off x="1828800" y="1691640"/>
            <a:ext cx="2331720" cy="2331720"/>
          </a:xfrm>
          <a:prstGeom prst="ellipse">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Microsoft YaHei"/>
              </a:rPr>
              <a:t>轮1
软件直接变现</a:t>
            </a:r>
          </a:p>
        </p:txBody>
      </p:sp>
      <p:sp>
        <p:nvSpPr>
          <p:cNvPr id="6" name="Oval 5"/>
          <p:cNvSpPr/>
          <p:nvPr/>
        </p:nvSpPr>
        <p:spPr>
          <a:xfrm>
            <a:off x="7909560" y="1691640"/>
            <a:ext cx="2331720" cy="2331720"/>
          </a:xfrm>
          <a:prstGeom prst="ellipse">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Microsoft YaHei"/>
              </a:rPr>
              <a:t>轮2
OEM集成拉动</a:t>
            </a:r>
          </a:p>
        </p:txBody>
      </p:sp>
      <p:sp>
        <p:nvSpPr>
          <p:cNvPr id="7" name="TextBox 6"/>
          <p:cNvSpPr txBox="1"/>
          <p:nvPr/>
        </p:nvSpPr>
        <p:spPr>
          <a:xfrm>
            <a:off x="1600200" y="4160520"/>
            <a:ext cx="2743200" cy="640080"/>
          </a:xfrm>
          <a:prstGeom prst="rect">
            <a:avLst/>
          </a:prstGeom>
          <a:noFill/>
        </p:spPr>
        <p:txBody>
          <a:bodyPr wrap="square" anchor="t">
            <a:noAutofit/>
          </a:bodyPr>
          <a:lstStyle/>
          <a:p>
            <a:pPr algn="ctr"/>
            <a:r>
              <a:rPr sz="1300" b="0">
                <a:solidFill>
                  <a:srgbClr val="1F2937"/>
                </a:solidFill>
                <a:latin typeface="Microsoft YaHei"/>
              </a:rPr>
              <a:t>SaaS订阅 / API授权 / 工具型软件收费</a:t>
            </a:r>
          </a:p>
          <a:p>
            <a:pPr algn="ctr"/>
            <a:r>
              <a:rPr sz="1300" b="0">
                <a:solidFill>
                  <a:srgbClr val="1F2937"/>
                </a:solidFill>
                <a:latin typeface="Microsoft YaHei"/>
              </a:rPr>
              <a:t>形成独立软件收入与现金流</a:t>
            </a:r>
          </a:p>
        </p:txBody>
      </p:sp>
      <p:sp>
        <p:nvSpPr>
          <p:cNvPr id="8" name="TextBox 7"/>
          <p:cNvSpPr txBox="1"/>
          <p:nvPr/>
        </p:nvSpPr>
        <p:spPr>
          <a:xfrm>
            <a:off x="7589520" y="4160520"/>
            <a:ext cx="2926080" cy="640080"/>
          </a:xfrm>
          <a:prstGeom prst="rect">
            <a:avLst/>
          </a:prstGeom>
          <a:noFill/>
        </p:spPr>
        <p:txBody>
          <a:bodyPr wrap="square" anchor="t">
            <a:noAutofit/>
          </a:bodyPr>
          <a:lstStyle/>
          <a:p>
            <a:pPr algn="ctr"/>
            <a:r>
              <a:rPr sz="1300" b="0">
                <a:solidFill>
                  <a:srgbClr val="1F2937"/>
                </a:solidFill>
                <a:latin typeface="Microsoft YaHei"/>
              </a:rPr>
              <a:t>场景型方案嵌入客户产品</a:t>
            </a:r>
          </a:p>
          <a:p>
            <a:pPr algn="ctr"/>
            <a:r>
              <a:rPr sz="1300" b="0">
                <a:solidFill>
                  <a:srgbClr val="1F2937"/>
                </a:solidFill>
                <a:latin typeface="Microsoft YaHei"/>
              </a:rPr>
              <a:t>以应用体验提升芯片中标率与溢价</a:t>
            </a:r>
          </a:p>
        </p:txBody>
      </p:sp>
      <p:cxnSp>
        <p:nvCxnSpPr>
          <p:cNvPr id="9" name="Connector 8"/>
          <p:cNvCxnSpPr/>
          <p:nvPr/>
        </p:nvCxnSpPr>
        <p:spPr>
          <a:xfrm>
            <a:off x="4114800" y="2834640"/>
            <a:ext cx="868680" cy="0"/>
          </a:xfrm>
          <a:prstGeom prst="line">
            <a:avLst/>
          </a:prstGeom>
          <a:ln w="31750">
            <a:solidFill>
              <a:srgbClr val="38A16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178040" y="2834640"/>
            <a:ext cx="731520" cy="0"/>
          </a:xfrm>
          <a:prstGeom prst="line">
            <a:avLst/>
          </a:prstGeom>
          <a:ln w="31750">
            <a:solidFill>
              <a:srgbClr val="ED893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60520" y="1051560"/>
            <a:ext cx="3931920" cy="320040"/>
          </a:xfrm>
          <a:prstGeom prst="rect">
            <a:avLst/>
          </a:prstGeom>
          <a:noFill/>
        </p:spPr>
        <p:txBody>
          <a:bodyPr wrap="square" anchor="t">
            <a:noAutofit/>
          </a:bodyPr>
          <a:lstStyle/>
          <a:p>
            <a:pPr algn="ctr"/>
            <a:r>
              <a:rPr sz="1600" b="1">
                <a:solidFill>
                  <a:srgbClr val="132B4D"/>
                </a:solidFill>
                <a:latin typeface="Microsoft YaHei"/>
              </a:rPr>
              <a:t>两轮协同：软件收入反哺研发，硬件装机反哺软件生态</a:t>
            </a:r>
          </a:p>
        </p:txBody>
      </p:sp>
      <p:sp>
        <p:nvSpPr>
          <p:cNvPr id="12" name="Rounded Rectangle 11"/>
          <p:cNvSpPr/>
          <p:nvPr/>
        </p:nvSpPr>
        <p:spPr>
          <a:xfrm>
            <a:off x="777240" y="5349240"/>
            <a:ext cx="914400" cy="347472"/>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战略</a:t>
            </a:r>
          </a:p>
        </p:txBody>
      </p:sp>
      <p:sp>
        <p:nvSpPr>
          <p:cNvPr id="13" name="TextBox 12"/>
          <p:cNvSpPr txBox="1"/>
          <p:nvPr/>
        </p:nvSpPr>
        <p:spPr>
          <a:xfrm>
            <a:off x="1764792" y="5385816"/>
            <a:ext cx="1188720" cy="256032"/>
          </a:xfrm>
          <a:prstGeom prst="rect">
            <a:avLst/>
          </a:prstGeom>
          <a:noFill/>
        </p:spPr>
        <p:txBody>
          <a:bodyPr wrap="square" anchor="t">
            <a:noAutofit/>
          </a:bodyPr>
          <a:lstStyle/>
          <a:p>
            <a:pPr algn="l"/>
            <a:r>
              <a:rPr sz="1000" b="0">
                <a:solidFill>
                  <a:srgbClr val="1F2937"/>
                </a:solidFill>
                <a:latin typeface="Microsoft YaHei"/>
              </a:rPr>
              <a:t>重构"重硬件、轻软件"认知</a:t>
            </a:r>
          </a:p>
        </p:txBody>
      </p:sp>
      <p:sp>
        <p:nvSpPr>
          <p:cNvPr id="14" name="Rounded Rectangle 13"/>
          <p:cNvSpPr/>
          <p:nvPr/>
        </p:nvSpPr>
        <p:spPr>
          <a:xfrm>
            <a:off x="3063240" y="5349240"/>
            <a:ext cx="914400" cy="347472"/>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组织</a:t>
            </a:r>
          </a:p>
        </p:txBody>
      </p:sp>
      <p:sp>
        <p:nvSpPr>
          <p:cNvPr id="15" name="TextBox 14"/>
          <p:cNvSpPr txBox="1"/>
          <p:nvPr/>
        </p:nvSpPr>
        <p:spPr>
          <a:xfrm>
            <a:off x="4050791" y="5385816"/>
            <a:ext cx="1188720" cy="256032"/>
          </a:xfrm>
          <a:prstGeom prst="rect">
            <a:avLst/>
          </a:prstGeom>
          <a:noFill/>
        </p:spPr>
        <p:txBody>
          <a:bodyPr wrap="square" anchor="t">
            <a:noAutofit/>
          </a:bodyPr>
          <a:lstStyle/>
          <a:p>
            <a:pPr algn="l"/>
            <a:r>
              <a:rPr sz="1000" b="0">
                <a:solidFill>
                  <a:srgbClr val="1F2937"/>
                </a:solidFill>
                <a:latin typeface="Microsoft YaHei"/>
              </a:rPr>
              <a:t>跨部门应用解决方案团队</a:t>
            </a:r>
          </a:p>
        </p:txBody>
      </p:sp>
      <p:sp>
        <p:nvSpPr>
          <p:cNvPr id="16" name="Rounded Rectangle 15"/>
          <p:cNvSpPr/>
          <p:nvPr/>
        </p:nvSpPr>
        <p:spPr>
          <a:xfrm>
            <a:off x="5349240" y="5349240"/>
            <a:ext cx="914400" cy="347472"/>
          </a:xfrm>
          <a:prstGeom prst="round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技术</a:t>
            </a:r>
          </a:p>
        </p:txBody>
      </p:sp>
      <p:sp>
        <p:nvSpPr>
          <p:cNvPr id="17" name="TextBox 16"/>
          <p:cNvSpPr txBox="1"/>
          <p:nvPr/>
        </p:nvSpPr>
        <p:spPr>
          <a:xfrm>
            <a:off x="6336792" y="5385816"/>
            <a:ext cx="1188720" cy="256032"/>
          </a:xfrm>
          <a:prstGeom prst="rect">
            <a:avLst/>
          </a:prstGeom>
          <a:noFill/>
        </p:spPr>
        <p:txBody>
          <a:bodyPr wrap="square" anchor="t">
            <a:noAutofit/>
          </a:bodyPr>
          <a:lstStyle/>
          <a:p>
            <a:pPr algn="l"/>
            <a:r>
              <a:rPr sz="1000" b="0">
                <a:solidFill>
                  <a:srgbClr val="1F2937"/>
                </a:solidFill>
                <a:latin typeface="Microsoft YaHei"/>
              </a:rPr>
              <a:t>聚焦垂直场景与极致体验</a:t>
            </a:r>
          </a:p>
        </p:txBody>
      </p:sp>
      <p:sp>
        <p:nvSpPr>
          <p:cNvPr id="18" name="Rounded Rectangle 17"/>
          <p:cNvSpPr/>
          <p:nvPr/>
        </p:nvSpPr>
        <p:spPr>
          <a:xfrm>
            <a:off x="7635240" y="5349240"/>
            <a:ext cx="914400" cy="347472"/>
          </a:xfrm>
          <a:prstGeom prst="round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市场</a:t>
            </a:r>
          </a:p>
        </p:txBody>
      </p:sp>
      <p:sp>
        <p:nvSpPr>
          <p:cNvPr id="19" name="TextBox 18"/>
          <p:cNvSpPr txBox="1"/>
          <p:nvPr/>
        </p:nvSpPr>
        <p:spPr>
          <a:xfrm>
            <a:off x="8622792" y="5385816"/>
            <a:ext cx="1188720" cy="256032"/>
          </a:xfrm>
          <a:prstGeom prst="rect">
            <a:avLst/>
          </a:prstGeom>
          <a:noFill/>
        </p:spPr>
        <p:txBody>
          <a:bodyPr wrap="square" anchor="t">
            <a:noAutofit/>
          </a:bodyPr>
          <a:lstStyle/>
          <a:p>
            <a:pPr algn="l"/>
            <a:r>
              <a:rPr sz="1000" b="0">
                <a:solidFill>
                  <a:srgbClr val="1F2937"/>
                </a:solidFill>
                <a:latin typeface="Microsoft YaHei"/>
              </a:rPr>
              <a:t>芯片+应用+服务整体营销</a:t>
            </a:r>
          </a:p>
        </p:txBody>
      </p:sp>
      <p:sp>
        <p:nvSpPr>
          <p:cNvPr id="20" name="Rounded Rectangle 19"/>
          <p:cNvSpPr/>
          <p:nvPr/>
        </p:nvSpPr>
        <p:spPr>
          <a:xfrm>
            <a:off x="9921240" y="5349240"/>
            <a:ext cx="914400" cy="347472"/>
          </a:xfrm>
          <a:prstGeom prst="round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政策</a:t>
            </a:r>
          </a:p>
        </p:txBody>
      </p:sp>
      <p:sp>
        <p:nvSpPr>
          <p:cNvPr id="21" name="TextBox 20"/>
          <p:cNvSpPr txBox="1"/>
          <p:nvPr/>
        </p:nvSpPr>
        <p:spPr>
          <a:xfrm>
            <a:off x="10908792" y="5385816"/>
            <a:ext cx="1188720" cy="256032"/>
          </a:xfrm>
          <a:prstGeom prst="rect">
            <a:avLst/>
          </a:prstGeom>
          <a:noFill/>
        </p:spPr>
        <p:txBody>
          <a:bodyPr wrap="square" anchor="t">
            <a:noAutofit/>
          </a:bodyPr>
          <a:lstStyle/>
          <a:p>
            <a:pPr algn="l"/>
            <a:r>
              <a:rPr sz="1000" b="0">
                <a:solidFill>
                  <a:srgbClr val="1F2937"/>
                </a:solidFill>
                <a:latin typeface="Microsoft YaHei"/>
              </a:rPr>
              <a:t>跟踪政策并导入资源</a:t>
            </a:r>
          </a:p>
        </p:txBody>
      </p:sp>
      <p:sp>
        <p:nvSpPr>
          <p:cNvPr id="22" name="TextBox 21"/>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七、研究创新点</a:t>
            </a:r>
          </a:p>
          <a:p>
            <a:r>
              <a:rPr sz="1000">
                <a:solidFill>
                  <a:srgbClr val="DCE6F5"/>
                </a:solidFill>
                <a:latin typeface="Microsoft YaHei"/>
              </a:rPr>
              <a:t>从需求侧、企业类型、策略体系与评价逻辑四个维度形成增量贡献</a:t>
            </a:r>
          </a:p>
        </p:txBody>
      </p:sp>
      <p:sp>
        <p:nvSpPr>
          <p:cNvPr id="4" name="Rounded Rectangle 3"/>
          <p:cNvSpPr/>
          <p:nvPr/>
        </p:nvSpPr>
        <p:spPr>
          <a:xfrm>
            <a:off x="640080" y="1188720"/>
            <a:ext cx="5120640" cy="18288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188720"/>
            <a:ext cx="51206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1280160"/>
            <a:ext cx="4754880" cy="201168"/>
          </a:xfrm>
          <a:prstGeom prst="rect">
            <a:avLst/>
          </a:prstGeom>
          <a:noFill/>
        </p:spPr>
        <p:txBody>
          <a:bodyPr wrap="square" anchor="t">
            <a:noAutofit/>
          </a:bodyPr>
          <a:lstStyle/>
          <a:p>
            <a:pPr algn="l"/>
            <a:r>
              <a:rPr sz="1600" b="1">
                <a:solidFill>
                  <a:srgbClr val="FFFFFF"/>
                </a:solidFill>
                <a:latin typeface="Microsoft YaHei"/>
              </a:rPr>
              <a:t>01 供给侧转向需求侧</a:t>
            </a:r>
          </a:p>
        </p:txBody>
      </p:sp>
      <p:sp>
        <p:nvSpPr>
          <p:cNvPr id="7" name="TextBox 6"/>
          <p:cNvSpPr txBox="1"/>
          <p:nvPr/>
        </p:nvSpPr>
        <p:spPr>
          <a:xfrm>
            <a:off x="841247" y="1828800"/>
            <a:ext cx="4663440" cy="868680"/>
          </a:xfrm>
          <a:prstGeom prst="rect">
            <a:avLst/>
          </a:prstGeom>
          <a:noFill/>
        </p:spPr>
        <p:txBody>
          <a:bodyPr wrap="square" anchor="t">
            <a:noAutofit/>
          </a:bodyPr>
          <a:lstStyle/>
          <a:p>
            <a:pPr algn="l"/>
            <a:r>
              <a:rPr sz="1300" b="0">
                <a:solidFill>
                  <a:srgbClr val="1F2937"/>
                </a:solidFill>
                <a:latin typeface="Microsoft YaHei"/>
              </a:rPr>
              <a:t>从技术开发便利性转向OEM/渠道/终端用户真实需求与体验反馈。</a:t>
            </a:r>
          </a:p>
        </p:txBody>
      </p:sp>
      <p:sp>
        <p:nvSpPr>
          <p:cNvPr id="8" name="Rounded Rectangle 7"/>
          <p:cNvSpPr/>
          <p:nvPr/>
        </p:nvSpPr>
        <p:spPr>
          <a:xfrm>
            <a:off x="6217920" y="1188720"/>
            <a:ext cx="5120640" cy="18288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120640" cy="457200"/>
          </a:xfrm>
          <a:prstGeom prst="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80160"/>
            <a:ext cx="4754880" cy="201168"/>
          </a:xfrm>
          <a:prstGeom prst="rect">
            <a:avLst/>
          </a:prstGeom>
          <a:noFill/>
        </p:spPr>
        <p:txBody>
          <a:bodyPr wrap="square" anchor="t">
            <a:noAutofit/>
          </a:bodyPr>
          <a:lstStyle/>
          <a:p>
            <a:pPr algn="l"/>
            <a:r>
              <a:rPr sz="1600" b="1">
                <a:solidFill>
                  <a:srgbClr val="FFFFFF"/>
                </a:solidFill>
                <a:latin typeface="Microsoft YaHei"/>
              </a:rPr>
              <a:t>02 聚焦中型企业困境</a:t>
            </a:r>
          </a:p>
        </p:txBody>
      </p:sp>
      <p:sp>
        <p:nvSpPr>
          <p:cNvPr id="11" name="TextBox 10"/>
          <p:cNvSpPr txBox="1"/>
          <p:nvPr/>
        </p:nvSpPr>
        <p:spPr>
          <a:xfrm>
            <a:off x="6419088" y="1828800"/>
            <a:ext cx="4663440" cy="868680"/>
          </a:xfrm>
          <a:prstGeom prst="rect">
            <a:avLst/>
          </a:prstGeom>
          <a:noFill/>
        </p:spPr>
        <p:txBody>
          <a:bodyPr wrap="square" anchor="t">
            <a:noAutofit/>
          </a:bodyPr>
          <a:lstStyle/>
          <a:p>
            <a:pPr algn="l"/>
            <a:r>
              <a:rPr sz="1300" b="0">
                <a:solidFill>
                  <a:srgbClr val="1F2937"/>
                </a:solidFill>
                <a:latin typeface="Microsoft YaHei"/>
              </a:rPr>
              <a:t>针对中型AI芯片企业"算力达标、软件滞后"的结构性矛盾展开分析。</a:t>
            </a:r>
          </a:p>
        </p:txBody>
      </p:sp>
      <p:sp>
        <p:nvSpPr>
          <p:cNvPr id="12" name="Rounded Rectangle 11"/>
          <p:cNvSpPr/>
          <p:nvPr/>
        </p:nvSpPr>
        <p:spPr>
          <a:xfrm>
            <a:off x="640080" y="3657600"/>
            <a:ext cx="5120640" cy="18288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657600"/>
            <a:ext cx="5120640" cy="457200"/>
          </a:xfrm>
          <a:prstGeom prst="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3749039"/>
            <a:ext cx="4754880" cy="201168"/>
          </a:xfrm>
          <a:prstGeom prst="rect">
            <a:avLst/>
          </a:prstGeom>
          <a:noFill/>
        </p:spPr>
        <p:txBody>
          <a:bodyPr wrap="square" anchor="t">
            <a:noAutofit/>
          </a:bodyPr>
          <a:lstStyle/>
          <a:p>
            <a:pPr algn="l"/>
            <a:r>
              <a:rPr sz="1600" b="1">
                <a:solidFill>
                  <a:srgbClr val="FFFFFF"/>
                </a:solidFill>
                <a:latin typeface="Microsoft YaHei"/>
              </a:rPr>
              <a:t>03 构建双轮驱动体系</a:t>
            </a:r>
          </a:p>
        </p:txBody>
      </p:sp>
      <p:sp>
        <p:nvSpPr>
          <p:cNvPr id="15" name="TextBox 14"/>
          <p:cNvSpPr txBox="1"/>
          <p:nvPr/>
        </p:nvSpPr>
        <p:spPr>
          <a:xfrm>
            <a:off x="841247" y="4297680"/>
            <a:ext cx="4663440" cy="868680"/>
          </a:xfrm>
          <a:prstGeom prst="rect">
            <a:avLst/>
          </a:prstGeom>
          <a:noFill/>
        </p:spPr>
        <p:txBody>
          <a:bodyPr wrap="square" anchor="t">
            <a:noAutofit/>
          </a:bodyPr>
          <a:lstStyle/>
          <a:p>
            <a:pPr algn="l"/>
            <a:r>
              <a:rPr sz="1300" b="0">
                <a:solidFill>
                  <a:srgbClr val="1F2937"/>
                </a:solidFill>
                <a:latin typeface="Microsoft YaHei"/>
              </a:rPr>
              <a:t>提出"软件直接变现 + OEM集成拉动"的双通道成果转化机制。</a:t>
            </a:r>
          </a:p>
        </p:txBody>
      </p:sp>
      <p:sp>
        <p:nvSpPr>
          <p:cNvPr id="16" name="Rounded Rectangle 15"/>
          <p:cNvSpPr/>
          <p:nvPr/>
        </p:nvSpPr>
        <p:spPr>
          <a:xfrm>
            <a:off x="6217920" y="3657600"/>
            <a:ext cx="5120640" cy="182880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657600"/>
            <a:ext cx="5120640" cy="457200"/>
          </a:xfrm>
          <a:prstGeom prst="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3749039"/>
            <a:ext cx="4754880" cy="201168"/>
          </a:xfrm>
          <a:prstGeom prst="rect">
            <a:avLst/>
          </a:prstGeom>
          <a:noFill/>
        </p:spPr>
        <p:txBody>
          <a:bodyPr wrap="square" anchor="t">
            <a:noAutofit/>
          </a:bodyPr>
          <a:lstStyle/>
          <a:p>
            <a:pPr algn="l"/>
            <a:r>
              <a:rPr sz="1600" b="1">
                <a:solidFill>
                  <a:srgbClr val="FFFFFF"/>
                </a:solidFill>
                <a:latin typeface="Microsoft YaHei"/>
              </a:rPr>
              <a:t>04 引入体验价值指标</a:t>
            </a:r>
          </a:p>
        </p:txBody>
      </p:sp>
      <p:sp>
        <p:nvSpPr>
          <p:cNvPr id="19" name="TextBox 18"/>
          <p:cNvSpPr txBox="1"/>
          <p:nvPr/>
        </p:nvSpPr>
        <p:spPr>
          <a:xfrm>
            <a:off x="6419088" y="4297680"/>
            <a:ext cx="4663440" cy="868680"/>
          </a:xfrm>
          <a:prstGeom prst="rect">
            <a:avLst/>
          </a:prstGeom>
          <a:noFill/>
        </p:spPr>
        <p:txBody>
          <a:bodyPr wrap="square" anchor="t">
            <a:noAutofit/>
          </a:bodyPr>
          <a:lstStyle/>
          <a:p>
            <a:pPr algn="l"/>
            <a:r>
              <a:rPr sz="1300" b="0">
                <a:solidFill>
                  <a:srgbClr val="1F2937"/>
                </a:solidFill>
                <a:latin typeface="Microsoft YaHei"/>
              </a:rPr>
              <a:t>用"优质体验—差异化回报—持续迭代"重构转化绩效评价体系。</a:t>
            </a:r>
          </a:p>
        </p:txBody>
      </p:sp>
      <p:sp>
        <p:nvSpPr>
          <p:cNvPr id="20" name="TextBox 19"/>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八、计划进度与预期成果</a:t>
            </a:r>
          </a:p>
          <a:p>
            <a:r>
              <a:rPr sz="1000">
                <a:solidFill>
                  <a:srgbClr val="DCE6F5"/>
                </a:solidFill>
                <a:latin typeface="Microsoft YaHei"/>
              </a:rPr>
              <a:t>时间安排聚焦2026年7月至12月，确保开题后快速推进实证与写作</a:t>
            </a:r>
          </a:p>
        </p:txBody>
      </p:sp>
      <p:sp>
        <p:nvSpPr>
          <p:cNvPr id="4" name="TextBox 3"/>
          <p:cNvSpPr txBox="1"/>
          <p:nvPr/>
        </p:nvSpPr>
        <p:spPr>
          <a:xfrm>
            <a:off x="502920" y="960120"/>
            <a:ext cx="4572000" cy="274320"/>
          </a:xfrm>
          <a:prstGeom prst="rect">
            <a:avLst/>
          </a:prstGeom>
          <a:noFill/>
        </p:spPr>
        <p:txBody>
          <a:bodyPr wrap="square" anchor="t">
            <a:noAutofit/>
          </a:bodyPr>
          <a:lstStyle/>
          <a:p>
            <a:pPr algn="l"/>
            <a:r>
              <a:rPr sz="1800" b="1">
                <a:solidFill>
                  <a:srgbClr val="132B4D"/>
                </a:solidFill>
                <a:latin typeface="Microsoft YaHei"/>
              </a:rPr>
              <a:t>计划进度</a:t>
            </a:r>
          </a:p>
        </p:txBody>
      </p:sp>
      <p:sp>
        <p:nvSpPr>
          <p:cNvPr id="5" name="Oval 4"/>
          <p:cNvSpPr/>
          <p:nvPr/>
        </p:nvSpPr>
        <p:spPr>
          <a:xfrm>
            <a:off x="685800" y="1554480"/>
            <a:ext cx="548640" cy="548640"/>
          </a:xfrm>
          <a:prstGeom prst="ellipse">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1</a:t>
            </a:r>
          </a:p>
        </p:txBody>
      </p:sp>
      <p:sp>
        <p:nvSpPr>
          <p:cNvPr id="6" name="Rounded Rectangle 5"/>
          <p:cNvSpPr/>
          <p:nvPr/>
        </p:nvSpPr>
        <p:spPr>
          <a:xfrm>
            <a:off x="594360" y="2240280"/>
            <a:ext cx="1645920" cy="1097280"/>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59152"/>
            <a:ext cx="1280160" cy="182880"/>
          </a:xfrm>
          <a:prstGeom prst="rect">
            <a:avLst/>
          </a:prstGeom>
          <a:noFill/>
        </p:spPr>
        <p:txBody>
          <a:bodyPr wrap="square" anchor="t">
            <a:noAutofit/>
          </a:bodyPr>
          <a:lstStyle/>
          <a:p>
            <a:pPr algn="ctr"/>
            <a:r>
              <a:rPr sz="1600" b="1">
                <a:solidFill>
                  <a:srgbClr val="FFFFFF"/>
                </a:solidFill>
                <a:latin typeface="Microsoft YaHei"/>
              </a:rPr>
              <a:t>7月</a:t>
            </a:r>
          </a:p>
        </p:txBody>
      </p:sp>
      <p:sp>
        <p:nvSpPr>
          <p:cNvPr id="8" name="TextBox 7"/>
          <p:cNvSpPr txBox="1"/>
          <p:nvPr/>
        </p:nvSpPr>
        <p:spPr>
          <a:xfrm>
            <a:off x="713232" y="2697480"/>
            <a:ext cx="1408176" cy="411480"/>
          </a:xfrm>
          <a:prstGeom prst="rect">
            <a:avLst/>
          </a:prstGeom>
          <a:noFill/>
        </p:spPr>
        <p:txBody>
          <a:bodyPr wrap="square" anchor="t">
            <a:noAutofit/>
          </a:bodyPr>
          <a:lstStyle/>
          <a:p>
            <a:pPr algn="ctr"/>
            <a:r>
              <a:rPr sz="1100" b="0">
                <a:solidFill>
                  <a:srgbClr val="FFFFFF"/>
                </a:solidFill>
                <a:latin typeface="Microsoft YaHei"/>
              </a:rPr>
              <a:t>文献综述</a:t>
            </a:r>
          </a:p>
          <a:p>
            <a:pPr algn="ctr"/>
            <a:r>
              <a:rPr sz="1100" b="0">
                <a:solidFill>
                  <a:srgbClr val="FFFFFF"/>
                </a:solidFill>
                <a:latin typeface="Microsoft YaHei"/>
              </a:rPr>
              <a:t>理论框架</a:t>
            </a:r>
          </a:p>
        </p:txBody>
      </p:sp>
      <p:cxnSp>
        <p:nvCxnSpPr>
          <p:cNvPr id="9" name="Connector 8"/>
          <p:cNvCxnSpPr/>
          <p:nvPr/>
        </p:nvCxnSpPr>
        <p:spPr>
          <a:xfrm>
            <a:off x="1234440" y="1828800"/>
            <a:ext cx="1508760" cy="0"/>
          </a:xfrm>
          <a:prstGeom prst="line">
            <a:avLst/>
          </a:prstGeom>
          <a:ln w="25400">
            <a:solidFill>
              <a:srgbClr val="D2DBE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743200" y="1554480"/>
            <a:ext cx="548640" cy="548640"/>
          </a:xfrm>
          <a:prstGeom prst="ellipse">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2</a:t>
            </a:r>
          </a:p>
        </p:txBody>
      </p:sp>
      <p:sp>
        <p:nvSpPr>
          <p:cNvPr id="11" name="Rounded Rectangle 10"/>
          <p:cNvSpPr/>
          <p:nvPr/>
        </p:nvSpPr>
        <p:spPr>
          <a:xfrm>
            <a:off x="2651760" y="2240280"/>
            <a:ext cx="1645920" cy="109728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2359152"/>
            <a:ext cx="1280160" cy="182880"/>
          </a:xfrm>
          <a:prstGeom prst="rect">
            <a:avLst/>
          </a:prstGeom>
          <a:noFill/>
        </p:spPr>
        <p:txBody>
          <a:bodyPr wrap="square" anchor="t">
            <a:noAutofit/>
          </a:bodyPr>
          <a:lstStyle/>
          <a:p>
            <a:pPr algn="ctr"/>
            <a:r>
              <a:rPr sz="1600" b="1">
                <a:solidFill>
                  <a:srgbClr val="FFFFFF"/>
                </a:solidFill>
                <a:latin typeface="Microsoft YaHei"/>
              </a:rPr>
              <a:t>8-9月</a:t>
            </a:r>
          </a:p>
        </p:txBody>
      </p:sp>
      <p:sp>
        <p:nvSpPr>
          <p:cNvPr id="13" name="TextBox 12"/>
          <p:cNvSpPr txBox="1"/>
          <p:nvPr/>
        </p:nvSpPr>
        <p:spPr>
          <a:xfrm>
            <a:off x="2770632" y="2697480"/>
            <a:ext cx="1408176" cy="411480"/>
          </a:xfrm>
          <a:prstGeom prst="rect">
            <a:avLst/>
          </a:prstGeom>
          <a:noFill/>
        </p:spPr>
        <p:txBody>
          <a:bodyPr wrap="square" anchor="t">
            <a:noAutofit/>
          </a:bodyPr>
          <a:lstStyle/>
          <a:p>
            <a:pPr algn="ctr"/>
            <a:r>
              <a:rPr sz="1100" b="0">
                <a:solidFill>
                  <a:srgbClr val="FFFFFF"/>
                </a:solidFill>
                <a:latin typeface="Microsoft YaHei"/>
              </a:rPr>
              <a:t>深度调研</a:t>
            </a:r>
          </a:p>
          <a:p>
            <a:pPr algn="ctr"/>
            <a:r>
              <a:rPr sz="1100" b="0">
                <a:solidFill>
                  <a:srgbClr val="FFFFFF"/>
                </a:solidFill>
                <a:latin typeface="Microsoft YaHei"/>
              </a:rPr>
              <a:t>数据收集</a:t>
            </a:r>
          </a:p>
        </p:txBody>
      </p:sp>
      <p:cxnSp>
        <p:nvCxnSpPr>
          <p:cNvPr id="14" name="Connector 13"/>
          <p:cNvCxnSpPr/>
          <p:nvPr/>
        </p:nvCxnSpPr>
        <p:spPr>
          <a:xfrm>
            <a:off x="3291840" y="1828800"/>
            <a:ext cx="1508760" cy="0"/>
          </a:xfrm>
          <a:prstGeom prst="line">
            <a:avLst/>
          </a:prstGeom>
          <a:ln w="25400">
            <a:solidFill>
              <a:srgbClr val="D2DBE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800600" y="1554480"/>
            <a:ext cx="548640" cy="548640"/>
          </a:xfrm>
          <a:prstGeom prst="ellipse">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3</a:t>
            </a:r>
          </a:p>
        </p:txBody>
      </p:sp>
      <p:sp>
        <p:nvSpPr>
          <p:cNvPr id="16" name="Rounded Rectangle 15"/>
          <p:cNvSpPr/>
          <p:nvPr/>
        </p:nvSpPr>
        <p:spPr>
          <a:xfrm>
            <a:off x="4709160" y="2240280"/>
            <a:ext cx="1645920" cy="1097280"/>
          </a:xfrm>
          <a:prstGeom prst="round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2359152"/>
            <a:ext cx="1280160" cy="182880"/>
          </a:xfrm>
          <a:prstGeom prst="rect">
            <a:avLst/>
          </a:prstGeom>
          <a:noFill/>
        </p:spPr>
        <p:txBody>
          <a:bodyPr wrap="square" anchor="t">
            <a:noAutofit/>
          </a:bodyPr>
          <a:lstStyle/>
          <a:p>
            <a:pPr algn="ctr"/>
            <a:r>
              <a:rPr sz="1600" b="1">
                <a:solidFill>
                  <a:srgbClr val="FFFFFF"/>
                </a:solidFill>
                <a:latin typeface="Microsoft YaHei"/>
              </a:rPr>
              <a:t>10月</a:t>
            </a:r>
          </a:p>
        </p:txBody>
      </p:sp>
      <p:sp>
        <p:nvSpPr>
          <p:cNvPr id="18" name="TextBox 17"/>
          <p:cNvSpPr txBox="1"/>
          <p:nvPr/>
        </p:nvSpPr>
        <p:spPr>
          <a:xfrm>
            <a:off x="4828032" y="2697480"/>
            <a:ext cx="1408176" cy="411480"/>
          </a:xfrm>
          <a:prstGeom prst="rect">
            <a:avLst/>
          </a:prstGeom>
          <a:noFill/>
        </p:spPr>
        <p:txBody>
          <a:bodyPr wrap="square" anchor="t">
            <a:noAutofit/>
          </a:bodyPr>
          <a:lstStyle/>
          <a:p>
            <a:pPr algn="ctr"/>
            <a:r>
              <a:rPr sz="1100" b="0">
                <a:solidFill>
                  <a:srgbClr val="FFFFFF"/>
                </a:solidFill>
                <a:latin typeface="Microsoft YaHei"/>
              </a:rPr>
              <a:t>实证分析</a:t>
            </a:r>
          </a:p>
          <a:p>
            <a:pPr algn="ctr"/>
            <a:r>
              <a:rPr sz="1100" b="0">
                <a:solidFill>
                  <a:srgbClr val="FFFFFF"/>
                </a:solidFill>
                <a:latin typeface="Microsoft YaHei"/>
              </a:rPr>
              <a:t>策略设计</a:t>
            </a:r>
          </a:p>
        </p:txBody>
      </p:sp>
      <p:cxnSp>
        <p:nvCxnSpPr>
          <p:cNvPr id="19" name="Connector 18"/>
          <p:cNvCxnSpPr/>
          <p:nvPr/>
        </p:nvCxnSpPr>
        <p:spPr>
          <a:xfrm>
            <a:off x="5349240" y="1828800"/>
            <a:ext cx="1508760" cy="0"/>
          </a:xfrm>
          <a:prstGeom prst="line">
            <a:avLst/>
          </a:prstGeom>
          <a:ln w="25400">
            <a:solidFill>
              <a:srgbClr val="D2DBE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858000" y="1554480"/>
            <a:ext cx="548640" cy="548640"/>
          </a:xfrm>
          <a:prstGeom prst="ellipse">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4</a:t>
            </a:r>
          </a:p>
        </p:txBody>
      </p:sp>
      <p:sp>
        <p:nvSpPr>
          <p:cNvPr id="21" name="Rounded Rectangle 20"/>
          <p:cNvSpPr/>
          <p:nvPr/>
        </p:nvSpPr>
        <p:spPr>
          <a:xfrm>
            <a:off x="6766560" y="2240280"/>
            <a:ext cx="1645920" cy="1097280"/>
          </a:xfrm>
          <a:prstGeom prst="round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2359152"/>
            <a:ext cx="1280160" cy="182880"/>
          </a:xfrm>
          <a:prstGeom prst="rect">
            <a:avLst/>
          </a:prstGeom>
          <a:noFill/>
        </p:spPr>
        <p:txBody>
          <a:bodyPr wrap="square" anchor="t">
            <a:noAutofit/>
          </a:bodyPr>
          <a:lstStyle/>
          <a:p>
            <a:pPr algn="ctr"/>
            <a:r>
              <a:rPr sz="1600" b="1">
                <a:solidFill>
                  <a:srgbClr val="FFFFFF"/>
                </a:solidFill>
                <a:latin typeface="Microsoft YaHei"/>
              </a:rPr>
              <a:t>10-11月</a:t>
            </a:r>
          </a:p>
        </p:txBody>
      </p:sp>
      <p:sp>
        <p:nvSpPr>
          <p:cNvPr id="23" name="TextBox 22"/>
          <p:cNvSpPr txBox="1"/>
          <p:nvPr/>
        </p:nvSpPr>
        <p:spPr>
          <a:xfrm>
            <a:off x="6885432" y="2697480"/>
            <a:ext cx="1408176" cy="411480"/>
          </a:xfrm>
          <a:prstGeom prst="rect">
            <a:avLst/>
          </a:prstGeom>
          <a:noFill/>
        </p:spPr>
        <p:txBody>
          <a:bodyPr wrap="square" anchor="t">
            <a:noAutofit/>
          </a:bodyPr>
          <a:lstStyle/>
          <a:p>
            <a:pPr algn="ctr"/>
            <a:r>
              <a:rPr sz="1100" b="0">
                <a:solidFill>
                  <a:srgbClr val="FFFFFF"/>
                </a:solidFill>
                <a:latin typeface="Microsoft YaHei"/>
              </a:rPr>
              <a:t>论文初稿</a:t>
            </a:r>
          </a:p>
          <a:p>
            <a:pPr algn="ctr"/>
            <a:r>
              <a:rPr sz="1100" b="0">
                <a:solidFill>
                  <a:srgbClr val="FFFFFF"/>
                </a:solidFill>
                <a:latin typeface="Microsoft YaHei"/>
              </a:rPr>
              <a:t>修改完善</a:t>
            </a:r>
          </a:p>
        </p:txBody>
      </p:sp>
      <p:cxnSp>
        <p:nvCxnSpPr>
          <p:cNvPr id="24" name="Connector 23"/>
          <p:cNvCxnSpPr/>
          <p:nvPr/>
        </p:nvCxnSpPr>
        <p:spPr>
          <a:xfrm>
            <a:off x="7406640" y="1828800"/>
            <a:ext cx="1508760" cy="0"/>
          </a:xfrm>
          <a:prstGeom prst="line">
            <a:avLst/>
          </a:prstGeom>
          <a:ln w="25400">
            <a:solidFill>
              <a:srgbClr val="D2DBE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915400" y="1554480"/>
            <a:ext cx="548640" cy="548640"/>
          </a:xfrm>
          <a:prstGeom prst="ellipse">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5</a:t>
            </a:r>
          </a:p>
        </p:txBody>
      </p:sp>
      <p:sp>
        <p:nvSpPr>
          <p:cNvPr id="26" name="Rounded Rectangle 25"/>
          <p:cNvSpPr/>
          <p:nvPr/>
        </p:nvSpPr>
        <p:spPr>
          <a:xfrm>
            <a:off x="8823960" y="2240280"/>
            <a:ext cx="1645920" cy="1097280"/>
          </a:xfrm>
          <a:prstGeom prst="round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2359152"/>
            <a:ext cx="1280160" cy="182880"/>
          </a:xfrm>
          <a:prstGeom prst="rect">
            <a:avLst/>
          </a:prstGeom>
          <a:noFill/>
        </p:spPr>
        <p:txBody>
          <a:bodyPr wrap="square" anchor="t">
            <a:noAutofit/>
          </a:bodyPr>
          <a:lstStyle/>
          <a:p>
            <a:pPr algn="ctr"/>
            <a:r>
              <a:rPr sz="1600" b="1">
                <a:solidFill>
                  <a:srgbClr val="FFFFFF"/>
                </a:solidFill>
                <a:latin typeface="Microsoft YaHei"/>
              </a:rPr>
              <a:t>11-12月</a:t>
            </a:r>
          </a:p>
        </p:txBody>
      </p:sp>
      <p:sp>
        <p:nvSpPr>
          <p:cNvPr id="28" name="TextBox 27"/>
          <p:cNvSpPr txBox="1"/>
          <p:nvPr/>
        </p:nvSpPr>
        <p:spPr>
          <a:xfrm>
            <a:off x="8942832" y="2697480"/>
            <a:ext cx="1408176" cy="411480"/>
          </a:xfrm>
          <a:prstGeom prst="rect">
            <a:avLst/>
          </a:prstGeom>
          <a:noFill/>
        </p:spPr>
        <p:txBody>
          <a:bodyPr wrap="square" anchor="t">
            <a:noAutofit/>
          </a:bodyPr>
          <a:lstStyle/>
          <a:p>
            <a:pPr algn="ctr"/>
            <a:r>
              <a:rPr sz="1100" b="0">
                <a:solidFill>
                  <a:srgbClr val="FFFFFF"/>
                </a:solidFill>
                <a:latin typeface="Microsoft YaHei"/>
              </a:rPr>
              <a:t>导师反馈</a:t>
            </a:r>
          </a:p>
          <a:p>
            <a:pPr algn="ctr"/>
            <a:r>
              <a:rPr sz="1100" b="0">
                <a:solidFill>
                  <a:srgbClr val="FFFFFF"/>
                </a:solidFill>
                <a:latin typeface="Microsoft YaHei"/>
              </a:rPr>
              <a:t>定稿提交</a:t>
            </a:r>
          </a:p>
        </p:txBody>
      </p:sp>
      <p:sp>
        <p:nvSpPr>
          <p:cNvPr id="29" name="TextBox 28"/>
          <p:cNvSpPr txBox="1"/>
          <p:nvPr/>
        </p:nvSpPr>
        <p:spPr>
          <a:xfrm>
            <a:off x="502920" y="3886200"/>
            <a:ext cx="4572000" cy="274320"/>
          </a:xfrm>
          <a:prstGeom prst="rect">
            <a:avLst/>
          </a:prstGeom>
          <a:noFill/>
        </p:spPr>
        <p:txBody>
          <a:bodyPr wrap="square" anchor="t">
            <a:noAutofit/>
          </a:bodyPr>
          <a:lstStyle/>
          <a:p>
            <a:pPr algn="l"/>
            <a:r>
              <a:rPr sz="1800" b="1">
                <a:solidFill>
                  <a:srgbClr val="132B4D"/>
                </a:solidFill>
                <a:latin typeface="Microsoft YaHei"/>
              </a:rPr>
              <a:t>预期成果</a:t>
            </a:r>
          </a:p>
        </p:txBody>
      </p:sp>
      <p:sp>
        <p:nvSpPr>
          <p:cNvPr id="30" name="Rounded Rectangle 29"/>
          <p:cNvSpPr/>
          <p:nvPr/>
        </p:nvSpPr>
        <p:spPr>
          <a:xfrm>
            <a:off x="548640" y="4297680"/>
            <a:ext cx="5029200" cy="150876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97680"/>
            <a:ext cx="109728" cy="1508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407408"/>
            <a:ext cx="4709160" cy="320040"/>
          </a:xfrm>
          <a:prstGeom prst="rect">
            <a:avLst/>
          </a:prstGeom>
          <a:noFill/>
        </p:spPr>
        <p:txBody>
          <a:bodyPr wrap="square" anchor="t">
            <a:noAutofit/>
          </a:bodyPr>
          <a:lstStyle/>
          <a:p>
            <a:pPr algn="l"/>
            <a:r>
              <a:rPr sz="1600" b="1">
                <a:solidFill>
                  <a:srgbClr val="132B4D"/>
                </a:solidFill>
                <a:latin typeface="Microsoft YaHei"/>
              </a:rPr>
              <a:t>理论成果</a:t>
            </a:r>
          </a:p>
        </p:txBody>
      </p:sp>
      <p:sp>
        <p:nvSpPr>
          <p:cNvPr id="33" name="TextBox 32"/>
          <p:cNvSpPr txBox="1"/>
          <p:nvPr/>
        </p:nvSpPr>
        <p:spPr>
          <a:xfrm>
            <a:off x="731520" y="4754880"/>
            <a:ext cx="4709160" cy="941832"/>
          </a:xfrm>
          <a:prstGeom prst="rect">
            <a:avLst/>
          </a:prstGeom>
          <a:noFill/>
        </p:spPr>
        <p:txBody>
          <a:bodyPr wrap="square">
            <a:spAutoFit/>
          </a:bodyPr>
          <a:lstStyle/>
          <a:p>
            <a:r>
              <a:rPr sz="1200">
                <a:solidFill>
                  <a:srgbClr val="1F2937"/>
                </a:solidFill>
                <a:latin typeface="Microsoft YaHei"/>
              </a:rPr>
              <a:t>• 构建"双轮驱动"成果转化理论框架。</a:t>
            </a:r>
          </a:p>
          <a:p>
            <a:r>
              <a:rPr sz="1200">
                <a:solidFill>
                  <a:srgbClr val="1F2937"/>
                </a:solidFill>
                <a:latin typeface="Microsoft YaHei"/>
              </a:rPr>
              <a:t>• 阐释应用软件差异化赋能硬件商业化的作用机理。</a:t>
            </a:r>
          </a:p>
          <a:p>
            <a:r>
              <a:rPr sz="1200">
                <a:solidFill>
                  <a:srgbClr val="1F2937"/>
                </a:solidFill>
                <a:latin typeface="Microsoft YaHei"/>
              </a:rPr>
              <a:t>• 完成不少于3万字的硕士论文。</a:t>
            </a:r>
          </a:p>
        </p:txBody>
      </p:sp>
      <p:sp>
        <p:nvSpPr>
          <p:cNvPr id="34" name="Rounded Rectangle 33"/>
          <p:cNvSpPr/>
          <p:nvPr/>
        </p:nvSpPr>
        <p:spPr>
          <a:xfrm>
            <a:off x="6035040" y="4297680"/>
            <a:ext cx="5029200" cy="150876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0" y="4297680"/>
            <a:ext cx="109728" cy="1508760"/>
          </a:xfrm>
          <a:prstGeom prst="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4407408"/>
            <a:ext cx="4709160" cy="320040"/>
          </a:xfrm>
          <a:prstGeom prst="rect">
            <a:avLst/>
          </a:prstGeom>
          <a:noFill/>
        </p:spPr>
        <p:txBody>
          <a:bodyPr wrap="square" anchor="t">
            <a:noAutofit/>
          </a:bodyPr>
          <a:lstStyle/>
          <a:p>
            <a:pPr algn="l"/>
            <a:r>
              <a:rPr sz="1600" b="1">
                <a:solidFill>
                  <a:srgbClr val="132B4D"/>
                </a:solidFill>
                <a:latin typeface="Microsoft YaHei"/>
              </a:rPr>
              <a:t>实践成果</a:t>
            </a:r>
          </a:p>
        </p:txBody>
      </p:sp>
      <p:sp>
        <p:nvSpPr>
          <p:cNvPr id="37" name="TextBox 36"/>
          <p:cNvSpPr txBox="1"/>
          <p:nvPr/>
        </p:nvSpPr>
        <p:spPr>
          <a:xfrm>
            <a:off x="6217920" y="4754880"/>
            <a:ext cx="4709160" cy="941832"/>
          </a:xfrm>
          <a:prstGeom prst="rect">
            <a:avLst/>
          </a:prstGeom>
          <a:noFill/>
        </p:spPr>
        <p:txBody>
          <a:bodyPr wrap="square">
            <a:spAutoFit/>
          </a:bodyPr>
          <a:lstStyle/>
          <a:p>
            <a:r>
              <a:rPr sz="1200">
                <a:solidFill>
                  <a:srgbClr val="1F2937"/>
                </a:solidFill>
                <a:latin typeface="Microsoft YaHei"/>
              </a:rPr>
              <a:t>• 形成面向中型AI企业的应用驱动型转化实施方案。</a:t>
            </a:r>
          </a:p>
          <a:p>
            <a:r>
              <a:rPr sz="1200">
                <a:solidFill>
                  <a:srgbClr val="1F2937"/>
                </a:solidFill>
                <a:latin typeface="Microsoft YaHei"/>
              </a:rPr>
              <a:t>• 输出基于用户洞察的终端应用体验优化策略。</a:t>
            </a:r>
          </a:p>
          <a:p>
            <a:r>
              <a:rPr sz="1200">
                <a:solidFill>
                  <a:srgbClr val="1F2937"/>
                </a:solidFill>
                <a:latin typeface="Microsoft YaHei"/>
              </a:rPr>
              <a:t>• 提炼可迁移的商业化落地参考框架。</a:t>
            </a:r>
          </a:p>
        </p:txBody>
      </p:sp>
      <p:sp>
        <p:nvSpPr>
          <p:cNvPr id="38" name="TextBox 37"/>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九、可行性与前期基础</a:t>
            </a:r>
          </a:p>
          <a:p>
            <a:r>
              <a:rPr sz="1000">
                <a:solidFill>
                  <a:srgbClr val="DCE6F5"/>
                </a:solidFill>
                <a:latin typeface="Microsoft YaHei"/>
              </a:rPr>
              <a:t>理论、调研、能力与资源基础均已具备，具备推进课题研究的现实条件</a:t>
            </a:r>
          </a:p>
        </p:txBody>
      </p:sp>
      <p:sp>
        <p:nvSpPr>
          <p:cNvPr id="4" name="Rounded Rectangle 3"/>
          <p:cNvSpPr/>
          <p:nvPr/>
        </p:nvSpPr>
        <p:spPr>
          <a:xfrm>
            <a:off x="594360" y="1051560"/>
            <a:ext cx="4983480" cy="12344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58952" y="1216151"/>
            <a:ext cx="1417320" cy="347472"/>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理论可行性</a:t>
            </a:r>
          </a:p>
        </p:txBody>
      </p:sp>
      <p:sp>
        <p:nvSpPr>
          <p:cNvPr id="6" name="TextBox 5"/>
          <p:cNvSpPr txBox="1"/>
          <p:nvPr/>
        </p:nvSpPr>
        <p:spPr>
          <a:xfrm>
            <a:off x="2377440" y="1307592"/>
            <a:ext cx="2926080" cy="594360"/>
          </a:xfrm>
          <a:prstGeom prst="rect">
            <a:avLst/>
          </a:prstGeom>
          <a:noFill/>
        </p:spPr>
        <p:txBody>
          <a:bodyPr wrap="square" anchor="t">
            <a:noAutofit/>
          </a:bodyPr>
          <a:lstStyle/>
          <a:p>
            <a:pPr algn="l"/>
            <a:r>
              <a:rPr sz="1200" b="0">
                <a:solidFill>
                  <a:srgbClr val="1F2937"/>
                </a:solidFill>
                <a:latin typeface="Microsoft YaHei"/>
              </a:rPr>
              <a:t>已有技术成果转化、体验驱动创新、软硬协同设计等成熟理论支撑。</a:t>
            </a:r>
          </a:p>
        </p:txBody>
      </p:sp>
      <p:sp>
        <p:nvSpPr>
          <p:cNvPr id="7" name="Rounded Rectangle 6"/>
          <p:cNvSpPr/>
          <p:nvPr/>
        </p:nvSpPr>
        <p:spPr>
          <a:xfrm>
            <a:off x="6217920" y="1051560"/>
            <a:ext cx="4983480" cy="12344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82512" y="1216151"/>
            <a:ext cx="1417320" cy="347472"/>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调研可行性</a:t>
            </a:r>
          </a:p>
        </p:txBody>
      </p:sp>
      <p:sp>
        <p:nvSpPr>
          <p:cNvPr id="9" name="TextBox 8"/>
          <p:cNvSpPr txBox="1"/>
          <p:nvPr/>
        </p:nvSpPr>
        <p:spPr>
          <a:xfrm>
            <a:off x="8001000" y="1307592"/>
            <a:ext cx="2926080" cy="594360"/>
          </a:xfrm>
          <a:prstGeom prst="rect">
            <a:avLst/>
          </a:prstGeom>
          <a:noFill/>
        </p:spPr>
        <p:txBody>
          <a:bodyPr wrap="square" anchor="t">
            <a:noAutofit/>
          </a:bodyPr>
          <a:lstStyle/>
          <a:p>
            <a:pPr algn="l"/>
            <a:r>
              <a:rPr sz="1200" b="0">
                <a:solidFill>
                  <a:srgbClr val="1F2937"/>
                </a:solidFill>
                <a:latin typeface="Microsoft YaHei"/>
              </a:rPr>
              <a:t>宏观数据可公开获取，企业与下游合作方具备调研配合条件。</a:t>
            </a:r>
          </a:p>
        </p:txBody>
      </p:sp>
      <p:sp>
        <p:nvSpPr>
          <p:cNvPr id="10" name="Rounded Rectangle 9"/>
          <p:cNvSpPr/>
          <p:nvPr/>
        </p:nvSpPr>
        <p:spPr>
          <a:xfrm>
            <a:off x="594360" y="2606039"/>
            <a:ext cx="4983480" cy="12344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58952" y="2770632"/>
            <a:ext cx="1417320" cy="347472"/>
          </a:xfrm>
          <a:prstGeom prst="roundRect">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能力可行性</a:t>
            </a:r>
          </a:p>
        </p:txBody>
      </p:sp>
      <p:sp>
        <p:nvSpPr>
          <p:cNvPr id="12" name="TextBox 11"/>
          <p:cNvSpPr txBox="1"/>
          <p:nvPr/>
        </p:nvSpPr>
        <p:spPr>
          <a:xfrm>
            <a:off x="2377440" y="2862072"/>
            <a:ext cx="2926080" cy="594360"/>
          </a:xfrm>
          <a:prstGeom prst="rect">
            <a:avLst/>
          </a:prstGeom>
          <a:noFill/>
        </p:spPr>
        <p:txBody>
          <a:bodyPr wrap="square" anchor="t">
            <a:noAutofit/>
          </a:bodyPr>
          <a:lstStyle/>
          <a:p>
            <a:pPr algn="l"/>
            <a:r>
              <a:rPr sz="1200" b="0">
                <a:solidFill>
                  <a:srgbClr val="1F2937"/>
                </a:solidFill>
                <a:latin typeface="Microsoft YaHei"/>
              </a:rPr>
              <a:t>具备产业经济与企业管理训练基础，熟悉PEST、SWOT等工具。</a:t>
            </a:r>
          </a:p>
        </p:txBody>
      </p:sp>
      <p:sp>
        <p:nvSpPr>
          <p:cNvPr id="13" name="Rounded Rectangle 12"/>
          <p:cNvSpPr/>
          <p:nvPr/>
        </p:nvSpPr>
        <p:spPr>
          <a:xfrm>
            <a:off x="6217920" y="2606039"/>
            <a:ext cx="4983480" cy="12344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82512" y="2770632"/>
            <a:ext cx="1417320" cy="347472"/>
          </a:xfrm>
          <a:prstGeom prst="roundRect">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Microsoft YaHei"/>
              </a:rPr>
              <a:t>资源可行性</a:t>
            </a:r>
          </a:p>
        </p:txBody>
      </p:sp>
      <p:sp>
        <p:nvSpPr>
          <p:cNvPr id="15" name="TextBox 14"/>
          <p:cNvSpPr txBox="1"/>
          <p:nvPr/>
        </p:nvSpPr>
        <p:spPr>
          <a:xfrm>
            <a:off x="8001000" y="2862072"/>
            <a:ext cx="2926080" cy="594360"/>
          </a:xfrm>
          <a:prstGeom prst="rect">
            <a:avLst/>
          </a:prstGeom>
          <a:noFill/>
        </p:spPr>
        <p:txBody>
          <a:bodyPr wrap="square" anchor="t">
            <a:noAutofit/>
          </a:bodyPr>
          <a:lstStyle/>
          <a:p>
            <a:pPr algn="l"/>
            <a:r>
              <a:rPr sz="1200" b="0">
                <a:solidFill>
                  <a:srgbClr val="1F2937"/>
                </a:solidFill>
                <a:latin typeface="Microsoft YaHei"/>
              </a:rPr>
              <a:t>导师指导、企业接口人和客户沟通渠道已初步建立。</a:t>
            </a:r>
          </a:p>
        </p:txBody>
      </p:sp>
      <p:sp>
        <p:nvSpPr>
          <p:cNvPr id="16" name="Rounded Rectangle 15"/>
          <p:cNvSpPr/>
          <p:nvPr/>
        </p:nvSpPr>
        <p:spPr>
          <a:xfrm>
            <a:off x="594360" y="4572000"/>
            <a:ext cx="10469880" cy="12344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4572000"/>
            <a:ext cx="109728" cy="1234440"/>
          </a:xfrm>
          <a:prstGeom prst="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681728"/>
            <a:ext cx="10149840" cy="320040"/>
          </a:xfrm>
          <a:prstGeom prst="rect">
            <a:avLst/>
          </a:prstGeom>
          <a:noFill/>
        </p:spPr>
        <p:txBody>
          <a:bodyPr wrap="square" anchor="t">
            <a:noAutofit/>
          </a:bodyPr>
          <a:lstStyle/>
          <a:p>
            <a:pPr algn="l"/>
            <a:r>
              <a:rPr sz="1600" b="1">
                <a:solidFill>
                  <a:srgbClr val="132B4D"/>
                </a:solidFill>
                <a:latin typeface="Microsoft YaHei"/>
              </a:rPr>
              <a:t>与本课题相关的前期积累</a:t>
            </a:r>
          </a:p>
        </p:txBody>
      </p:sp>
      <p:sp>
        <p:nvSpPr>
          <p:cNvPr id="19" name="TextBox 18"/>
          <p:cNvSpPr txBox="1"/>
          <p:nvPr/>
        </p:nvSpPr>
        <p:spPr>
          <a:xfrm>
            <a:off x="777240" y="5029200"/>
            <a:ext cx="10149840" cy="667512"/>
          </a:xfrm>
          <a:prstGeom prst="rect">
            <a:avLst/>
          </a:prstGeom>
          <a:noFill/>
        </p:spPr>
        <p:txBody>
          <a:bodyPr wrap="square">
            <a:spAutoFit/>
          </a:bodyPr>
          <a:lstStyle/>
          <a:p>
            <a:r>
              <a:rPr sz="1200">
                <a:solidFill>
                  <a:srgbClr val="1F2937"/>
                </a:solidFill>
                <a:latin typeface="Microsoft YaHei"/>
              </a:rPr>
              <a:t>• 具有多年半导体行业从业经验，熟悉AI相关产品研发与软件推广。</a:t>
            </a:r>
          </a:p>
          <a:p>
            <a:r>
              <a:rPr sz="1200">
                <a:solidFill>
                  <a:srgbClr val="1F2937"/>
                </a:solidFill>
                <a:latin typeface="Microsoft YaHei"/>
              </a:rPr>
              <a:t>• 已系统学习项目管理、技术转移管理、企业经营与科技创新政策等课程。</a:t>
            </a:r>
          </a:p>
          <a:p>
            <a:r>
              <a:rPr sz="1200">
                <a:solidFill>
                  <a:srgbClr val="1F2937"/>
                </a:solidFill>
                <a:latin typeface="Microsoft YaHei"/>
              </a:rPr>
              <a:t>• 正在持续积累中英文文献、行业白皮书与调研资料库。</a:t>
            </a:r>
          </a:p>
        </p:txBody>
      </p:sp>
      <p:sp>
        <p:nvSpPr>
          <p:cNvPr id="20" name="TextBox 19"/>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十、研究核心逻辑：正—反—合</a:t>
            </a:r>
          </a:p>
          <a:p>
            <a:r>
              <a:rPr sz="1000">
                <a:solidFill>
                  <a:srgbClr val="DCE6F5"/>
                </a:solidFill>
                <a:latin typeface="Microsoft YaHei"/>
              </a:rPr>
              <a:t>T公司AI应用软件成果转化路径总览 · 推动从f2穿越绿色区间迈向f3</a:t>
            </a:r>
          </a:p>
        </p:txBody>
      </p:sp>
      <p:sp>
        <p:nvSpPr>
          <p:cNvPr id="4" name="Oval 3"/>
          <p:cNvSpPr/>
          <p:nvPr/>
        </p:nvSpPr>
        <p:spPr>
          <a:xfrm>
            <a:off x="4187952" y="822960"/>
            <a:ext cx="3602736" cy="1499616"/>
          </a:xfrm>
          <a:prstGeom prst="ellipse">
            <a:avLst/>
          </a:prstGeom>
          <a:solidFill>
            <a:srgbClr val="C6E5BE"/>
          </a:solidFill>
          <a:ln w="19050">
            <a:solidFill>
              <a:srgbClr val="469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53312" y="777240"/>
            <a:ext cx="9317736" cy="1591056"/>
          </a:xfrm>
          <a:prstGeom prst="ellipse">
            <a:avLst/>
          </a:prstGeom>
          <a:noFill/>
          <a:ln w="254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08176" y="822960"/>
            <a:ext cx="2944368" cy="1499616"/>
          </a:xfrm>
          <a:prstGeom prst="ellipse">
            <a:avLst/>
          </a:prstGeom>
          <a:noFill/>
          <a:ln w="2286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26096" y="822960"/>
            <a:ext cx="2990088" cy="1499616"/>
          </a:xfrm>
          <a:prstGeom prst="ellipse">
            <a:avLst/>
          </a:prstGeom>
          <a:noFill/>
          <a:ln w="2286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02920" y="1572768"/>
            <a:ext cx="10789920" cy="0"/>
          </a:xfrm>
          <a:prstGeom prst="line">
            <a:avLst/>
          </a:prstGeom>
          <a:ln w="31750">
            <a:solidFill>
              <a:srgbClr val="1F2937"/>
            </a:solidFill>
            <a:headEnd type="arrow"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018520" y="1325880"/>
            <a:ext cx="1097280" cy="237744"/>
          </a:xfrm>
          <a:prstGeom prst="rect">
            <a:avLst/>
          </a:prstGeom>
          <a:noFill/>
        </p:spPr>
        <p:txBody>
          <a:bodyPr wrap="square" anchor="t">
            <a:noAutofit/>
          </a:bodyPr>
          <a:lstStyle/>
          <a:p>
            <a:pPr algn="l"/>
            <a:r>
              <a:rPr sz="1300" b="1">
                <a:solidFill>
                  <a:srgbClr val="1F2937"/>
                </a:solidFill>
                <a:latin typeface="Microsoft YaHei"/>
              </a:rPr>
              <a:t>Business</a:t>
            </a:r>
          </a:p>
        </p:txBody>
      </p:sp>
      <p:sp>
        <p:nvSpPr>
          <p:cNvPr id="10" name="Oval 9"/>
          <p:cNvSpPr/>
          <p:nvPr/>
        </p:nvSpPr>
        <p:spPr>
          <a:xfrm>
            <a:off x="1234440" y="1344168"/>
            <a:ext cx="457200" cy="457200"/>
          </a:xfrm>
          <a:prstGeom prst="ellipse">
            <a:avLst/>
          </a:prstGeom>
          <a:solidFill>
            <a:srgbClr val="FFFFFF"/>
          </a:solidFill>
          <a:ln w="254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F2937"/>
                </a:solidFill>
                <a:latin typeface="Microsoft YaHei"/>
              </a:rPr>
              <a:t>f1</a:t>
            </a:r>
          </a:p>
        </p:txBody>
      </p:sp>
      <p:sp>
        <p:nvSpPr>
          <p:cNvPr id="11" name="Oval 10"/>
          <p:cNvSpPr/>
          <p:nvPr/>
        </p:nvSpPr>
        <p:spPr>
          <a:xfrm>
            <a:off x="4069080" y="1344168"/>
            <a:ext cx="457200" cy="457200"/>
          </a:xfrm>
          <a:prstGeom prst="ellipse">
            <a:avLst/>
          </a:prstGeom>
          <a:solidFill>
            <a:srgbClr val="FFFFFF"/>
          </a:solidFill>
          <a:ln w="254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F2937"/>
                </a:solidFill>
                <a:latin typeface="Microsoft YaHei"/>
              </a:rPr>
              <a:t>f2</a:t>
            </a:r>
          </a:p>
        </p:txBody>
      </p:sp>
      <p:sp>
        <p:nvSpPr>
          <p:cNvPr id="12" name="Oval 11"/>
          <p:cNvSpPr/>
          <p:nvPr/>
        </p:nvSpPr>
        <p:spPr>
          <a:xfrm>
            <a:off x="7452360" y="1344168"/>
            <a:ext cx="457200" cy="457200"/>
          </a:xfrm>
          <a:prstGeom prst="ellipse">
            <a:avLst/>
          </a:prstGeom>
          <a:solidFill>
            <a:srgbClr val="FFFFFF"/>
          </a:solidFill>
          <a:ln w="254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F2937"/>
                </a:solidFill>
                <a:latin typeface="Microsoft YaHei"/>
              </a:rPr>
              <a:t>f3</a:t>
            </a:r>
          </a:p>
        </p:txBody>
      </p:sp>
      <p:sp>
        <p:nvSpPr>
          <p:cNvPr id="13" name="Oval 12"/>
          <p:cNvSpPr/>
          <p:nvPr/>
        </p:nvSpPr>
        <p:spPr>
          <a:xfrm>
            <a:off x="10332720" y="1344168"/>
            <a:ext cx="457200" cy="457200"/>
          </a:xfrm>
          <a:prstGeom prst="ellipse">
            <a:avLst/>
          </a:prstGeom>
          <a:solidFill>
            <a:srgbClr val="FFFFFF"/>
          </a:solidFill>
          <a:ln w="254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F2937"/>
                </a:solidFill>
                <a:latin typeface="Microsoft YaHei"/>
              </a:rPr>
              <a:t>f4</a:t>
            </a:r>
          </a:p>
        </p:txBody>
      </p:sp>
      <p:sp>
        <p:nvSpPr>
          <p:cNvPr id="14" name="TextBox 13"/>
          <p:cNvSpPr txBox="1"/>
          <p:nvPr/>
        </p:nvSpPr>
        <p:spPr>
          <a:xfrm>
            <a:off x="4480560" y="868680"/>
            <a:ext cx="3017520" cy="292608"/>
          </a:xfrm>
          <a:prstGeom prst="rect">
            <a:avLst/>
          </a:prstGeom>
          <a:noFill/>
        </p:spPr>
        <p:txBody>
          <a:bodyPr wrap="square" anchor="t">
            <a:noAutofit/>
          </a:bodyPr>
          <a:lstStyle/>
          <a:p>
            <a:pPr algn="ctr"/>
            <a:r>
              <a:rPr sz="1400" b="1">
                <a:solidFill>
                  <a:srgbClr val="196E19"/>
                </a:solidFill>
                <a:latin typeface="Microsoft YaHei"/>
              </a:rPr>
              <a:t>AI应用成果转化</a:t>
            </a:r>
          </a:p>
        </p:txBody>
      </p:sp>
      <p:sp>
        <p:nvSpPr>
          <p:cNvPr id="15" name="TextBox 14"/>
          <p:cNvSpPr txBox="1"/>
          <p:nvPr/>
        </p:nvSpPr>
        <p:spPr>
          <a:xfrm>
            <a:off x="4480560" y="1801368"/>
            <a:ext cx="3017520" cy="347472"/>
          </a:xfrm>
          <a:prstGeom prst="rect">
            <a:avLst/>
          </a:prstGeom>
          <a:noFill/>
        </p:spPr>
        <p:txBody>
          <a:bodyPr wrap="square" anchor="t">
            <a:noAutofit/>
          </a:bodyPr>
          <a:lstStyle/>
          <a:p>
            <a:pPr algn="ctr"/>
            <a:r>
              <a:rPr sz="1100" b="0">
                <a:solidFill>
                  <a:srgbClr val="1F2937"/>
                </a:solidFill>
                <a:latin typeface="Microsoft YaHei"/>
              </a:rPr>
              <a:t>以市场为导向的技术创新</a:t>
            </a:r>
          </a:p>
        </p:txBody>
      </p:sp>
      <p:cxnSp>
        <p:nvCxnSpPr>
          <p:cNvPr id="16" name="Connector 15"/>
          <p:cNvCxnSpPr/>
          <p:nvPr/>
        </p:nvCxnSpPr>
        <p:spPr>
          <a:xfrm>
            <a:off x="1463040" y="1828800"/>
            <a:ext cx="0" cy="694944"/>
          </a:xfrm>
          <a:prstGeom prst="line">
            <a:avLst/>
          </a:prstGeom>
          <a:ln w="12700">
            <a:solidFill>
              <a:srgbClr val="6B7280"/>
            </a:solidFill>
            <a:prstDash val="sys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97680" y="1828800"/>
            <a:ext cx="0" cy="694944"/>
          </a:xfrm>
          <a:prstGeom prst="line">
            <a:avLst/>
          </a:prstGeom>
          <a:ln w="12700">
            <a:solidFill>
              <a:srgbClr val="6B7280"/>
            </a:solidFill>
            <a:prstDash val="sys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80960" y="1828800"/>
            <a:ext cx="0" cy="694944"/>
          </a:xfrm>
          <a:prstGeom prst="line">
            <a:avLst/>
          </a:prstGeom>
          <a:ln w="12700">
            <a:solidFill>
              <a:srgbClr val="6B7280"/>
            </a:solidFill>
            <a:prstDash val="sys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61320" y="1828800"/>
            <a:ext cx="0" cy="694944"/>
          </a:xfrm>
          <a:prstGeom prst="line">
            <a:avLst/>
          </a:prstGeom>
          <a:ln w="12700">
            <a:solidFill>
              <a:srgbClr val="6B7280"/>
            </a:solidFill>
            <a:prstDash val="sys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3504" y="2578608"/>
            <a:ext cx="1719072"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2624328"/>
            <a:ext cx="1536192" cy="228600"/>
          </a:xfrm>
          <a:prstGeom prst="rect">
            <a:avLst/>
          </a:prstGeom>
          <a:noFill/>
        </p:spPr>
        <p:txBody>
          <a:bodyPr wrap="square" anchor="t">
            <a:noAutofit/>
          </a:bodyPr>
          <a:lstStyle/>
          <a:p>
            <a:pPr algn="l"/>
            <a:r>
              <a:rPr sz="1200" b="1">
                <a:solidFill>
                  <a:srgbClr val="132B4D"/>
                </a:solidFill>
                <a:latin typeface="Microsoft YaHei"/>
              </a:rPr>
              <a:t>硬件</a:t>
            </a:r>
          </a:p>
        </p:txBody>
      </p:sp>
      <p:sp>
        <p:nvSpPr>
          <p:cNvPr id="22" name="TextBox 21"/>
          <p:cNvSpPr txBox="1"/>
          <p:nvPr/>
        </p:nvSpPr>
        <p:spPr>
          <a:xfrm>
            <a:off x="694944" y="2871216"/>
            <a:ext cx="1536192" cy="219456"/>
          </a:xfrm>
          <a:prstGeom prst="rect">
            <a:avLst/>
          </a:prstGeom>
          <a:noFill/>
        </p:spPr>
        <p:txBody>
          <a:bodyPr wrap="square" anchor="t">
            <a:noAutofit/>
          </a:bodyPr>
          <a:lstStyle/>
          <a:p>
            <a:pPr algn="l"/>
            <a:r>
              <a:rPr sz="1000" b="0">
                <a:solidFill>
                  <a:srgbClr val="6B7280"/>
                </a:solidFill>
                <a:latin typeface="Microsoft YaHei"/>
              </a:rPr>
              <a:t>纯硬件，无应用生态</a:t>
            </a:r>
          </a:p>
        </p:txBody>
      </p:sp>
      <p:sp>
        <p:nvSpPr>
          <p:cNvPr id="23" name="Rounded Rectangle 22"/>
          <p:cNvSpPr/>
          <p:nvPr/>
        </p:nvSpPr>
        <p:spPr>
          <a:xfrm>
            <a:off x="3291840" y="2578608"/>
            <a:ext cx="201168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2624328"/>
            <a:ext cx="1828800" cy="228600"/>
          </a:xfrm>
          <a:prstGeom prst="rect">
            <a:avLst/>
          </a:prstGeom>
          <a:noFill/>
        </p:spPr>
        <p:txBody>
          <a:bodyPr wrap="square" anchor="t">
            <a:noAutofit/>
          </a:bodyPr>
          <a:lstStyle/>
          <a:p>
            <a:pPr algn="l"/>
            <a:r>
              <a:rPr sz="1200" b="1">
                <a:solidFill>
                  <a:srgbClr val="132B4D"/>
                </a:solidFill>
                <a:latin typeface="Microsoft YaHei"/>
              </a:rPr>
              <a:t>T公司当前处境</a:t>
            </a:r>
          </a:p>
        </p:txBody>
      </p:sp>
      <p:sp>
        <p:nvSpPr>
          <p:cNvPr id="25" name="TextBox 24"/>
          <p:cNvSpPr txBox="1"/>
          <p:nvPr/>
        </p:nvSpPr>
        <p:spPr>
          <a:xfrm>
            <a:off x="3383280" y="2871216"/>
            <a:ext cx="1828800" cy="219456"/>
          </a:xfrm>
          <a:prstGeom prst="rect">
            <a:avLst/>
          </a:prstGeom>
          <a:noFill/>
        </p:spPr>
        <p:txBody>
          <a:bodyPr wrap="square" anchor="t">
            <a:noAutofit/>
          </a:bodyPr>
          <a:lstStyle/>
          <a:p>
            <a:pPr algn="l"/>
            <a:r>
              <a:rPr sz="1000" b="0">
                <a:solidFill>
                  <a:srgbClr val="6B7280"/>
                </a:solidFill>
                <a:latin typeface="Microsoft YaHei"/>
              </a:rPr>
              <a:t>有算力，软件转化低效</a:t>
            </a:r>
          </a:p>
        </p:txBody>
      </p:sp>
      <p:sp>
        <p:nvSpPr>
          <p:cNvPr id="26" name="Rounded Rectangle 25"/>
          <p:cNvSpPr/>
          <p:nvPr/>
        </p:nvSpPr>
        <p:spPr>
          <a:xfrm>
            <a:off x="6675120" y="2578608"/>
            <a:ext cx="2011680"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2624328"/>
            <a:ext cx="1828800" cy="228600"/>
          </a:xfrm>
          <a:prstGeom prst="rect">
            <a:avLst/>
          </a:prstGeom>
          <a:noFill/>
        </p:spPr>
        <p:txBody>
          <a:bodyPr wrap="square" anchor="t">
            <a:noAutofit/>
          </a:bodyPr>
          <a:lstStyle/>
          <a:p>
            <a:pPr algn="l"/>
            <a:r>
              <a:rPr sz="1200" b="1">
                <a:solidFill>
                  <a:srgbClr val="132B4D"/>
                </a:solidFill>
                <a:latin typeface="Microsoft YaHei"/>
              </a:rPr>
              <a:t>软硬协同目标</a:t>
            </a:r>
          </a:p>
        </p:txBody>
      </p:sp>
      <p:sp>
        <p:nvSpPr>
          <p:cNvPr id="28" name="TextBox 27"/>
          <p:cNvSpPr txBox="1"/>
          <p:nvPr/>
        </p:nvSpPr>
        <p:spPr>
          <a:xfrm>
            <a:off x="6766560" y="2871216"/>
            <a:ext cx="1828800" cy="219456"/>
          </a:xfrm>
          <a:prstGeom prst="rect">
            <a:avLst/>
          </a:prstGeom>
          <a:noFill/>
        </p:spPr>
        <p:txBody>
          <a:bodyPr wrap="square" anchor="t">
            <a:noAutofit/>
          </a:bodyPr>
          <a:lstStyle/>
          <a:p>
            <a:pPr algn="l"/>
            <a:r>
              <a:rPr sz="1000" b="0">
                <a:solidFill>
                  <a:srgbClr val="6B7280"/>
                </a:solidFill>
                <a:latin typeface="Microsoft YaHei"/>
              </a:rPr>
              <a:t>应用体验驱动硬件增长</a:t>
            </a:r>
          </a:p>
        </p:txBody>
      </p:sp>
      <p:sp>
        <p:nvSpPr>
          <p:cNvPr id="29" name="Rounded Rectangle 28"/>
          <p:cNvSpPr/>
          <p:nvPr/>
        </p:nvSpPr>
        <p:spPr>
          <a:xfrm>
            <a:off x="9701784" y="2578608"/>
            <a:ext cx="1719072" cy="658368"/>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93224" y="2624328"/>
            <a:ext cx="1536192" cy="228600"/>
          </a:xfrm>
          <a:prstGeom prst="rect">
            <a:avLst/>
          </a:prstGeom>
          <a:noFill/>
        </p:spPr>
        <p:txBody>
          <a:bodyPr wrap="square" anchor="t">
            <a:noAutofit/>
          </a:bodyPr>
          <a:lstStyle/>
          <a:p>
            <a:pPr algn="l"/>
            <a:r>
              <a:rPr sz="1200" b="1">
                <a:solidFill>
                  <a:srgbClr val="132B4D"/>
                </a:solidFill>
                <a:latin typeface="Microsoft YaHei"/>
              </a:rPr>
              <a:t>纯软件（远期）</a:t>
            </a:r>
          </a:p>
        </p:txBody>
      </p:sp>
      <p:sp>
        <p:nvSpPr>
          <p:cNvPr id="31" name="TextBox 30"/>
          <p:cNvSpPr txBox="1"/>
          <p:nvPr/>
        </p:nvSpPr>
        <p:spPr>
          <a:xfrm>
            <a:off x="9793224" y="2871216"/>
            <a:ext cx="1536192" cy="219456"/>
          </a:xfrm>
          <a:prstGeom prst="rect">
            <a:avLst/>
          </a:prstGeom>
          <a:noFill/>
        </p:spPr>
        <p:txBody>
          <a:bodyPr wrap="square" anchor="t">
            <a:noAutofit/>
          </a:bodyPr>
          <a:lstStyle/>
          <a:p>
            <a:pPr algn="l"/>
            <a:r>
              <a:rPr sz="1000" b="0">
                <a:solidFill>
                  <a:srgbClr val="6B7280"/>
                </a:solidFill>
                <a:latin typeface="Microsoft YaHei"/>
              </a:rPr>
              <a:t>第三方生态，脱离硬件</a:t>
            </a:r>
          </a:p>
        </p:txBody>
      </p:sp>
      <p:sp>
        <p:nvSpPr>
          <p:cNvPr id="32" name="Rounded Rectangle 31"/>
          <p:cNvSpPr/>
          <p:nvPr/>
        </p:nvSpPr>
        <p:spPr>
          <a:xfrm>
            <a:off x="384048" y="3364992"/>
            <a:ext cx="3547872" cy="21488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 y="3364992"/>
            <a:ext cx="3547872"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7" y="3438144"/>
            <a:ext cx="3273552" cy="274320"/>
          </a:xfrm>
          <a:prstGeom prst="rect">
            <a:avLst/>
          </a:prstGeom>
          <a:noFill/>
        </p:spPr>
        <p:txBody>
          <a:bodyPr wrap="square" anchor="t">
            <a:noAutofit/>
          </a:bodyPr>
          <a:lstStyle/>
          <a:p>
            <a:pPr algn="l"/>
            <a:r>
              <a:rPr sz="1500" b="1">
                <a:solidFill>
                  <a:srgbClr val="FFFFFF"/>
                </a:solidFill>
                <a:latin typeface="Microsoft YaHei"/>
              </a:rPr>
              <a:t>正（Thesis）：算力基础</a:t>
            </a:r>
          </a:p>
        </p:txBody>
      </p:sp>
      <p:sp>
        <p:nvSpPr>
          <p:cNvPr id="35" name="TextBox 34"/>
          <p:cNvSpPr txBox="1"/>
          <p:nvPr/>
        </p:nvSpPr>
        <p:spPr>
          <a:xfrm>
            <a:off x="585216" y="3931920"/>
            <a:ext cx="3145536" cy="1435608"/>
          </a:xfrm>
          <a:prstGeom prst="rect">
            <a:avLst/>
          </a:prstGeom>
          <a:noFill/>
        </p:spPr>
        <p:txBody>
          <a:bodyPr wrap="square">
            <a:spAutoFit/>
          </a:bodyPr>
          <a:lstStyle/>
          <a:p>
            <a:r>
              <a:rPr sz="1250" b="0">
                <a:solidFill>
                  <a:srgbClr val="1F2937"/>
                </a:solidFill>
                <a:latin typeface="Microsoft YaHei"/>
              </a:rPr>
              <a:t>• T公司具备自研芯片算力优势，底层工具链相对成熟。</a:t>
            </a:r>
          </a:p>
          <a:p>
            <a:r>
              <a:rPr sz="1250" b="0">
                <a:solidFill>
                  <a:srgbClr val="1F2937"/>
                </a:solidFill>
                <a:latin typeface="Microsoft YaHei"/>
              </a:rPr>
              <a:t>• 硬件性能已达行业领先，为技术转化奠定基础。</a:t>
            </a:r>
          </a:p>
          <a:p>
            <a:r>
              <a:rPr sz="1250" b="1">
                <a:solidFill>
                  <a:srgbClr val="2B6CB0"/>
                </a:solidFill>
                <a:latin typeface="Microsoft YaHei"/>
              </a:rPr>
              <a:t>→ 但技术价值尚未有效传递给用户</a:t>
            </a:r>
          </a:p>
        </p:txBody>
      </p:sp>
      <p:sp>
        <p:nvSpPr>
          <p:cNvPr id="36" name="Rounded Rectangle 35"/>
          <p:cNvSpPr/>
          <p:nvPr/>
        </p:nvSpPr>
        <p:spPr>
          <a:xfrm>
            <a:off x="4315968" y="3364992"/>
            <a:ext cx="3547872" cy="21488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15968" y="3364992"/>
            <a:ext cx="3547872" cy="4572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53128" y="3438144"/>
            <a:ext cx="3273552" cy="274320"/>
          </a:xfrm>
          <a:prstGeom prst="rect">
            <a:avLst/>
          </a:prstGeom>
          <a:noFill/>
        </p:spPr>
        <p:txBody>
          <a:bodyPr wrap="square" anchor="t">
            <a:noAutofit/>
          </a:bodyPr>
          <a:lstStyle/>
          <a:p>
            <a:pPr algn="l"/>
            <a:r>
              <a:rPr sz="1500" b="1">
                <a:solidFill>
                  <a:srgbClr val="FFFFFF"/>
                </a:solidFill>
                <a:latin typeface="Microsoft YaHei"/>
              </a:rPr>
              <a:t>反（Antithesis）：转化瓶颈</a:t>
            </a:r>
          </a:p>
        </p:txBody>
      </p:sp>
      <p:sp>
        <p:nvSpPr>
          <p:cNvPr id="39" name="TextBox 38"/>
          <p:cNvSpPr txBox="1"/>
          <p:nvPr/>
        </p:nvSpPr>
        <p:spPr>
          <a:xfrm>
            <a:off x="4517136" y="3931920"/>
            <a:ext cx="3145536" cy="1435608"/>
          </a:xfrm>
          <a:prstGeom prst="rect">
            <a:avLst/>
          </a:prstGeom>
          <a:noFill/>
        </p:spPr>
        <p:txBody>
          <a:bodyPr wrap="square">
            <a:spAutoFit/>
          </a:bodyPr>
          <a:lstStyle/>
          <a:p>
            <a:r>
              <a:rPr sz="1250" b="0">
                <a:solidFill>
                  <a:srgbClr val="1F2937"/>
                </a:solidFill>
                <a:latin typeface="Microsoft YaHei"/>
              </a:rPr>
              <a:t>• 应用缺位、模式单一、组织协同不畅。</a:t>
            </a:r>
          </a:p>
          <a:p>
            <a:r>
              <a:rPr sz="1250" b="0">
                <a:solidFill>
                  <a:srgbClr val="1F2937"/>
                </a:solidFill>
                <a:latin typeface="Microsoft YaHei"/>
              </a:rPr>
              <a:t>• "有算力、无应用"困境制约商业化落地。</a:t>
            </a:r>
          </a:p>
          <a:p>
            <a:r>
              <a:rPr sz="1250" b="1">
                <a:solidFill>
                  <a:srgbClr val="E53E3E"/>
                </a:solidFill>
                <a:latin typeface="Microsoft YaHei"/>
              </a:rPr>
              <a:t>→ 陷入 f2 困境，转化效率偏低</a:t>
            </a:r>
          </a:p>
        </p:txBody>
      </p:sp>
      <p:sp>
        <p:nvSpPr>
          <p:cNvPr id="40" name="Rounded Rectangle 39"/>
          <p:cNvSpPr/>
          <p:nvPr/>
        </p:nvSpPr>
        <p:spPr>
          <a:xfrm>
            <a:off x="8247888" y="3364992"/>
            <a:ext cx="3547872" cy="21488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47888" y="3364992"/>
            <a:ext cx="3547872" cy="457200"/>
          </a:xfrm>
          <a:prstGeom prst="rect">
            <a:avLst/>
          </a:prstGeom>
          <a:solidFill>
            <a:srgbClr val="38A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85048" y="3438144"/>
            <a:ext cx="3273552" cy="274320"/>
          </a:xfrm>
          <a:prstGeom prst="rect">
            <a:avLst/>
          </a:prstGeom>
          <a:noFill/>
        </p:spPr>
        <p:txBody>
          <a:bodyPr wrap="square" anchor="t">
            <a:noAutofit/>
          </a:bodyPr>
          <a:lstStyle/>
          <a:p>
            <a:pPr algn="l"/>
            <a:r>
              <a:rPr sz="1500" b="1">
                <a:solidFill>
                  <a:srgbClr val="FFFFFF"/>
                </a:solidFill>
                <a:latin typeface="Microsoft YaHei"/>
              </a:rPr>
              <a:t>合（Synthesis）：双轮驱动策略</a:t>
            </a:r>
          </a:p>
        </p:txBody>
      </p:sp>
      <p:sp>
        <p:nvSpPr>
          <p:cNvPr id="43" name="TextBox 42"/>
          <p:cNvSpPr txBox="1"/>
          <p:nvPr/>
        </p:nvSpPr>
        <p:spPr>
          <a:xfrm>
            <a:off x="8449056" y="3931920"/>
            <a:ext cx="3145536" cy="1435608"/>
          </a:xfrm>
          <a:prstGeom prst="rect">
            <a:avLst/>
          </a:prstGeom>
          <a:noFill/>
        </p:spPr>
        <p:txBody>
          <a:bodyPr wrap="square">
            <a:spAutoFit/>
          </a:bodyPr>
          <a:lstStyle/>
          <a:p>
            <a:r>
              <a:rPr sz="1250" b="0">
                <a:solidFill>
                  <a:srgbClr val="1F2937"/>
                </a:solidFill>
                <a:latin typeface="Microsoft YaHei"/>
              </a:rPr>
              <a:t>• 软件直接变现（SaaS/API）+ OEM集成拉动。</a:t>
            </a:r>
          </a:p>
          <a:p>
            <a:r>
              <a:rPr sz="1250" b="0">
                <a:solidFill>
                  <a:srgbClr val="1F2937"/>
                </a:solidFill>
                <a:latin typeface="Microsoft YaHei"/>
              </a:rPr>
              <a:t>• 从 f2 穿越绿色区间，构建软硬协同生态。</a:t>
            </a:r>
          </a:p>
          <a:p>
            <a:r>
              <a:rPr sz="1250" b="1">
                <a:solidFill>
                  <a:srgbClr val="38A169"/>
                </a:solidFill>
                <a:latin typeface="Microsoft YaHei"/>
              </a:rPr>
              <a:t>→ 技术价值 ⇌ 商业价值 协同提升</a:t>
            </a:r>
          </a:p>
        </p:txBody>
      </p:sp>
      <p:sp>
        <p:nvSpPr>
          <p:cNvPr id="44" name="Rounded Rectangle 43"/>
          <p:cNvSpPr/>
          <p:nvPr/>
        </p:nvSpPr>
        <p:spPr>
          <a:xfrm>
            <a:off x="411480" y="5669280"/>
            <a:ext cx="11384280" cy="566928"/>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760720"/>
            <a:ext cx="10972800" cy="365760"/>
          </a:xfrm>
          <a:prstGeom prst="rect">
            <a:avLst/>
          </a:prstGeom>
          <a:noFill/>
        </p:spPr>
        <p:txBody>
          <a:bodyPr wrap="square" anchor="t">
            <a:noAutofit/>
          </a:bodyPr>
          <a:lstStyle/>
          <a:p>
            <a:pPr algn="ctr"/>
            <a:r>
              <a:rPr sz="1400" b="1">
                <a:solidFill>
                  <a:srgbClr val="FFFFFF"/>
                </a:solidFill>
                <a:latin typeface="Microsoft YaHei"/>
              </a:rPr>
              <a:t>研究的本质：推动T公司从 f2 穿越绿色区间、迈向 f3，以AI应用软件转化打通从"算力优势"到"商业价值"的最后一公里。</a:t>
            </a:r>
          </a:p>
        </p:txBody>
      </p:sp>
      <p:sp>
        <p:nvSpPr>
          <p:cNvPr id="46" name="TextBox 45"/>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7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0"/>
          </a:xfrm>
          <a:prstGeom prst="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b="1">
                <a:solidFill>
                  <a:srgbClr val="FFFFFF"/>
                </a:solidFill>
                <a:latin typeface="Microsoft YaHei"/>
              </a:rPr>
              <a:t>十一、汇报总结</a:t>
            </a:r>
          </a:p>
          <a:p>
            <a:r>
              <a:rPr sz="1000">
                <a:solidFill>
                  <a:srgbClr val="DCE6F5"/>
                </a:solidFill>
                <a:latin typeface="Microsoft YaHei"/>
              </a:rPr>
              <a:t>选题聚焦明确、问题导向清晰、策略框架可落地</a:t>
            </a:r>
          </a:p>
        </p:txBody>
      </p:sp>
      <p:sp>
        <p:nvSpPr>
          <p:cNvPr id="4" name="Rounded Rectangle 3"/>
          <p:cNvSpPr/>
          <p:nvPr/>
        </p:nvSpPr>
        <p:spPr>
          <a:xfrm>
            <a:off x="914400" y="1143000"/>
            <a:ext cx="10332720" cy="1005840"/>
          </a:xfrm>
          <a:prstGeom prst="roundRect">
            <a:avLst/>
          </a:prstGeom>
          <a:solidFill>
            <a:srgbClr val="FFFFFF"/>
          </a:solidFill>
          <a:ln>
            <a:solidFill>
              <a:srgbClr val="D2D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481328"/>
            <a:ext cx="9692640" cy="365760"/>
          </a:xfrm>
          <a:prstGeom prst="rect">
            <a:avLst/>
          </a:prstGeom>
          <a:noFill/>
        </p:spPr>
        <p:txBody>
          <a:bodyPr wrap="square" anchor="t">
            <a:noAutofit/>
          </a:bodyPr>
          <a:lstStyle/>
          <a:p>
            <a:pPr algn="ctr"/>
            <a:r>
              <a:rPr sz="2200" b="1">
                <a:solidFill>
                  <a:srgbClr val="132B4D"/>
                </a:solidFill>
                <a:latin typeface="Microsoft YaHei"/>
              </a:rPr>
              <a:t>本研究将围绕"应用驱动、体验为先、软硬协同、双轮转化"展开系统研究。</a:t>
            </a:r>
          </a:p>
        </p:txBody>
      </p:sp>
      <p:sp>
        <p:nvSpPr>
          <p:cNvPr id="6" name="Oval 5"/>
          <p:cNvSpPr/>
          <p:nvPr/>
        </p:nvSpPr>
        <p:spPr>
          <a:xfrm>
            <a:off x="1828800" y="2651760"/>
            <a:ext cx="457200" cy="457200"/>
          </a:xfrm>
          <a:prstGeom prst="ellipse">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1</a:t>
            </a:r>
          </a:p>
        </p:txBody>
      </p:sp>
      <p:sp>
        <p:nvSpPr>
          <p:cNvPr id="7" name="TextBox 6"/>
          <p:cNvSpPr txBox="1"/>
          <p:nvPr/>
        </p:nvSpPr>
        <p:spPr>
          <a:xfrm>
            <a:off x="2468880" y="2724912"/>
            <a:ext cx="7315200" cy="274320"/>
          </a:xfrm>
          <a:prstGeom prst="rect">
            <a:avLst/>
          </a:prstGeom>
          <a:noFill/>
        </p:spPr>
        <p:txBody>
          <a:bodyPr wrap="square" anchor="t">
            <a:noAutofit/>
          </a:bodyPr>
          <a:lstStyle/>
          <a:p>
            <a:pPr algn="l"/>
            <a:r>
              <a:rPr sz="1600" b="0">
                <a:solidFill>
                  <a:srgbClr val="1F2937"/>
                </a:solidFill>
                <a:latin typeface="Microsoft YaHei"/>
              </a:rPr>
              <a:t>点题：回答T公司如何把AI应用软件真正转化为商业价值。</a:t>
            </a:r>
          </a:p>
        </p:txBody>
      </p:sp>
      <p:sp>
        <p:nvSpPr>
          <p:cNvPr id="8" name="Oval 7"/>
          <p:cNvSpPr/>
          <p:nvPr/>
        </p:nvSpPr>
        <p:spPr>
          <a:xfrm>
            <a:off x="1828800" y="3456432"/>
            <a:ext cx="457200" cy="457200"/>
          </a:xfrm>
          <a:prstGeom prst="ellipse">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2</a:t>
            </a:r>
          </a:p>
        </p:txBody>
      </p:sp>
      <p:sp>
        <p:nvSpPr>
          <p:cNvPr id="9" name="TextBox 8"/>
          <p:cNvSpPr txBox="1"/>
          <p:nvPr/>
        </p:nvSpPr>
        <p:spPr>
          <a:xfrm>
            <a:off x="2468880" y="3529584"/>
            <a:ext cx="7315200" cy="274320"/>
          </a:xfrm>
          <a:prstGeom prst="rect">
            <a:avLst/>
          </a:prstGeom>
          <a:noFill/>
        </p:spPr>
        <p:txBody>
          <a:bodyPr wrap="square" anchor="t">
            <a:noAutofit/>
          </a:bodyPr>
          <a:lstStyle/>
          <a:p>
            <a:pPr algn="l"/>
            <a:r>
              <a:rPr sz="1600" b="0">
                <a:solidFill>
                  <a:srgbClr val="1F2937"/>
                </a:solidFill>
                <a:latin typeface="Microsoft YaHei"/>
              </a:rPr>
              <a:t>聚焦：围绕"有算力、无应用"的典型问题展开诊断。</a:t>
            </a:r>
          </a:p>
        </p:txBody>
      </p:sp>
      <p:sp>
        <p:nvSpPr>
          <p:cNvPr id="10" name="Oval 9"/>
          <p:cNvSpPr/>
          <p:nvPr/>
        </p:nvSpPr>
        <p:spPr>
          <a:xfrm>
            <a:off x="1828800" y="4261104"/>
            <a:ext cx="457200" cy="457200"/>
          </a:xfrm>
          <a:prstGeom prst="ellipse">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3</a:t>
            </a:r>
          </a:p>
        </p:txBody>
      </p:sp>
      <p:sp>
        <p:nvSpPr>
          <p:cNvPr id="11" name="TextBox 10"/>
          <p:cNvSpPr txBox="1"/>
          <p:nvPr/>
        </p:nvSpPr>
        <p:spPr>
          <a:xfrm>
            <a:off x="2468880" y="4334256"/>
            <a:ext cx="7315200" cy="274320"/>
          </a:xfrm>
          <a:prstGeom prst="rect">
            <a:avLst/>
          </a:prstGeom>
          <a:noFill/>
        </p:spPr>
        <p:txBody>
          <a:bodyPr wrap="square" anchor="t">
            <a:noAutofit/>
          </a:bodyPr>
          <a:lstStyle/>
          <a:p>
            <a:pPr algn="l"/>
            <a:r>
              <a:rPr sz="1600" b="0">
                <a:solidFill>
                  <a:srgbClr val="1F2937"/>
                </a:solidFill>
                <a:latin typeface="Microsoft YaHei"/>
              </a:rPr>
              <a:t>方案：构建"软件直接变现 + OEM集成拉动"双轮驱动体系。</a:t>
            </a:r>
          </a:p>
        </p:txBody>
      </p:sp>
      <p:sp>
        <p:nvSpPr>
          <p:cNvPr id="12" name="Oval 11"/>
          <p:cNvSpPr/>
          <p:nvPr/>
        </p:nvSpPr>
        <p:spPr>
          <a:xfrm>
            <a:off x="1828800" y="5065776"/>
            <a:ext cx="457200" cy="457200"/>
          </a:xfrm>
          <a:prstGeom prst="ellipse">
            <a:avLst/>
          </a:prstGeom>
          <a:solidFill>
            <a:srgbClr val="ED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Microsoft YaHei"/>
              </a:rPr>
              <a:t>4</a:t>
            </a:r>
          </a:p>
        </p:txBody>
      </p:sp>
      <p:sp>
        <p:nvSpPr>
          <p:cNvPr id="13" name="TextBox 12"/>
          <p:cNvSpPr txBox="1"/>
          <p:nvPr/>
        </p:nvSpPr>
        <p:spPr>
          <a:xfrm>
            <a:off x="2468880" y="5138928"/>
            <a:ext cx="7315200" cy="274320"/>
          </a:xfrm>
          <a:prstGeom prst="rect">
            <a:avLst/>
          </a:prstGeom>
          <a:noFill/>
        </p:spPr>
        <p:txBody>
          <a:bodyPr wrap="square" anchor="t">
            <a:noAutofit/>
          </a:bodyPr>
          <a:lstStyle/>
          <a:p>
            <a:pPr algn="l"/>
            <a:r>
              <a:rPr sz="1600" b="0">
                <a:solidFill>
                  <a:srgbClr val="1F2937"/>
                </a:solidFill>
                <a:latin typeface="Microsoft YaHei"/>
              </a:rPr>
              <a:t>目标：为T公司及同类中型AI企业提供可复制的转化路径。</a:t>
            </a:r>
          </a:p>
        </p:txBody>
      </p:sp>
      <p:sp>
        <p:nvSpPr>
          <p:cNvPr id="14" name="Rounded Rectangle 13"/>
          <p:cNvSpPr/>
          <p:nvPr/>
        </p:nvSpPr>
        <p:spPr>
          <a:xfrm>
            <a:off x="4434840" y="5897880"/>
            <a:ext cx="3337560" cy="438912"/>
          </a:xfrm>
          <a:prstGeom prst="roundRect">
            <a:avLst/>
          </a:prstGeom>
          <a:solidFill>
            <a:srgbClr val="13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icrosoft YaHei"/>
              </a:rPr>
              <a:t>感谢聆听  ·  请各位老师批评指正</a:t>
            </a:r>
          </a:p>
        </p:txBody>
      </p:sp>
      <p:sp>
        <p:nvSpPr>
          <p:cNvPr id="15" name="TextBox 14"/>
          <p:cNvSpPr txBox="1"/>
          <p:nvPr/>
        </p:nvSpPr>
        <p:spPr>
          <a:xfrm>
            <a:off x="11521440" y="6446520"/>
            <a:ext cx="411480" cy="219456"/>
          </a:xfrm>
          <a:prstGeom prst="rect">
            <a:avLst/>
          </a:prstGeom>
          <a:noFill/>
        </p:spPr>
        <p:txBody>
          <a:bodyPr wrap="none">
            <a:spAutoFit/>
          </a:bodyPr>
          <a:lstStyle/>
          <a:p>
            <a:pPr algn="r"/>
            <a:r>
              <a:rPr sz="1000">
                <a:solidFill>
                  <a:srgbClr val="6B7280"/>
                </a:solidFill>
                <a:latin typeface="Microsoft YaHe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