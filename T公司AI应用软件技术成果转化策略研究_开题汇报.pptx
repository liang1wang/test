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现状评分</c:v>
                </c:pt>
              </c:strCache>
            </c:strRef>
          </c:tx>
          <c:spPr>
            <a:solidFill>
              <a:srgbClr val="2B6CB0"/>
            </a:solidFill>
          </c:spPr>
          <c:cat>
            <c:strRef>
              <c:f>Sheet1!$A$2:$A$6</c:f>
              <c:strCache>
                <c:ptCount val="5"/>
                <c:pt idx="0">
                  <c:v>硬件算力</c:v>
                </c:pt>
                <c:pt idx="1">
                  <c:v>底层工具</c:v>
                </c:pt>
                <c:pt idx="2">
                  <c:v>上层应用</c:v>
                </c:pt>
                <c:pt idx="3">
                  <c:v>商业转化</c:v>
                </c:pt>
                <c:pt idx="4">
                  <c:v>市场推广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78</c:v>
                </c:pt>
                <c:pt idx="2">
                  <c:v>42</c:v>
                </c:pt>
                <c:pt idx="3">
                  <c:v>36</c:v>
                </c:pt>
                <c:pt idx="4">
                  <c:v>30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0" y="0"/>
            <a:ext cx="164592" cy="6858000"/>
          </a:xfrm>
          <a:prstGeom prst="rect">
            <a:avLst/>
          </a:prstGeom>
          <a:solidFill>
            <a:srgbClr val="3A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274320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YaHei"/>
              </a:rPr>
              <a:t>开题汇报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2926080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T公司AI应用软件</a:t>
            </a:r>
          </a:p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技术成果转化策略研究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69080"/>
            <a:ext cx="2377440" cy="36576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主题：应用驱动 · 软硬协同 · 商业转化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800600"/>
            <a:ext cx="265176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E0E8F5"/>
                </a:solidFill>
                <a:latin typeface="Microsoft YaHei"/>
              </a:rPr>
              <a:t>汇报用途：硕士论文开题</a:t>
            </a:r>
          </a:p>
          <a:p>
            <a:pPr algn="l"/>
            <a:r>
              <a:rPr sz="1200" b="0">
                <a:solidFill>
                  <a:srgbClr val="E0E8F5"/>
                </a:solidFill>
                <a:latin typeface="Microsoft YaHei"/>
              </a:rPr>
              <a:t>关键词：AI应用软件 / 转化策略 / T公司案例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822960"/>
            <a:ext cx="71323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078992"/>
            <a:ext cx="6583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32B4D"/>
                </a:solidFill>
                <a:latin typeface="Microsoft YaHei"/>
              </a:rPr>
              <a:t>以AI应用软件驱动T公司技术成果商业化落地</a:t>
            </a:r>
          </a:p>
        </p:txBody>
      </p:sp>
      <p:sp>
        <p:nvSpPr>
          <p:cNvPr id="11" name="Chevron 10"/>
          <p:cNvSpPr/>
          <p:nvPr/>
        </p:nvSpPr>
        <p:spPr>
          <a:xfrm>
            <a:off x="4663440" y="2011680"/>
            <a:ext cx="2011680" cy="658368"/>
          </a:xfrm>
          <a:prstGeom prst="chevron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硬件算力</a:t>
            </a:r>
          </a:p>
        </p:txBody>
      </p:sp>
      <p:sp>
        <p:nvSpPr>
          <p:cNvPr id="12" name="Chevron 11"/>
          <p:cNvSpPr/>
          <p:nvPr/>
        </p:nvSpPr>
        <p:spPr>
          <a:xfrm>
            <a:off x="6583680" y="2011680"/>
            <a:ext cx="2011680" cy="658368"/>
          </a:xfrm>
          <a:prstGeom prst="chevron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应用软件</a:t>
            </a:r>
          </a:p>
        </p:txBody>
      </p:sp>
      <p:sp>
        <p:nvSpPr>
          <p:cNvPr id="13" name="Chevron 12"/>
          <p:cNvSpPr/>
          <p:nvPr/>
        </p:nvSpPr>
        <p:spPr>
          <a:xfrm>
            <a:off x="8503920" y="2011680"/>
            <a:ext cx="2011680" cy="658368"/>
          </a:xfrm>
          <a:prstGeom prst="chevron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商业价值</a:t>
            </a:r>
          </a:p>
        </p:txBody>
      </p:sp>
      <p:sp>
        <p:nvSpPr>
          <p:cNvPr id="14" name="Hexagon 13"/>
          <p:cNvSpPr/>
          <p:nvPr/>
        </p:nvSpPr>
        <p:spPr>
          <a:xfrm>
            <a:off x="6492240" y="2971800"/>
            <a:ext cx="2240280" cy="1234440"/>
          </a:xfrm>
          <a:prstGeom prst="hexagon">
            <a:avLst/>
          </a:prstGeom>
          <a:solidFill>
            <a:srgbClr val="E6EFFA"/>
          </a:solidFill>
          <a:ln>
            <a:solidFill>
              <a:srgbClr val="3A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32B4D"/>
                </a:solidFill>
                <a:latin typeface="Microsoft YaHei"/>
              </a:rPr>
              <a:t>双轮驱动
转化框架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526280"/>
            <a:ext cx="2331720" cy="9601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软件直接变现
SaaS / API / 授权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4526280"/>
            <a:ext cx="2331720" cy="96012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OEM集成拉动
方案嵌入 / 芯片增销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5806440"/>
            <a:ext cx="6675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F2937"/>
                </a:solidFill>
                <a:latin typeface="Microsoft YaHei"/>
              </a:rPr>
              <a:t>核心判断：仅有算力不足以突围，必须用优质AI应用软件把技术能力转化为客户可感知价值。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一、研究背景与选题价值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问题提出：AI产业价值增长重心正从“硬件参数”转向“应用创造价值”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36576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109728" cy="20574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69848"/>
            <a:ext cx="33375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研究背景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33375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AI产业竞争焦点从芯片制程、峰值算力，转向“硬件—软件—应用”深度融合。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对国产芯片企业而言，仅具算力优势已不足以撬动市场，需要上层应用来降低门槛、提升体验。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AI应用软件已成为技术成果能否商业化落地的关键变量。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2004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200400"/>
            <a:ext cx="109728" cy="224028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10128"/>
            <a:ext cx="33375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选题价值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57600"/>
            <a:ext cx="3337560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聚焦T公司AI应用软件成果转化，回应“有算力、无应用”的现实困境。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从理论上补足中型AI芯片企业成果转化研究不足。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从实践上为“卖芯片”向“卖解决方案”转型提供路径。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960120"/>
            <a:ext cx="23774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产业价值迁移路径</a:t>
            </a:r>
          </a:p>
        </p:txBody>
      </p:sp>
      <p:sp>
        <p:nvSpPr>
          <p:cNvPr id="13" name="Chevron 12"/>
          <p:cNvSpPr/>
          <p:nvPr/>
        </p:nvSpPr>
        <p:spPr>
          <a:xfrm>
            <a:off x="4480560" y="1508760"/>
            <a:ext cx="2103120" cy="731520"/>
          </a:xfrm>
          <a:prstGeom prst="chevron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阶段1
硬件参数竞争</a:t>
            </a:r>
          </a:p>
        </p:txBody>
      </p:sp>
      <p:sp>
        <p:nvSpPr>
          <p:cNvPr id="14" name="Chevron 13"/>
          <p:cNvSpPr/>
          <p:nvPr/>
        </p:nvSpPr>
        <p:spPr>
          <a:xfrm>
            <a:off x="6446520" y="1508760"/>
            <a:ext cx="2103120" cy="731520"/>
          </a:xfrm>
          <a:prstGeom prst="chevron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阶段2
软硬协同优化</a:t>
            </a:r>
          </a:p>
        </p:txBody>
      </p:sp>
      <p:sp>
        <p:nvSpPr>
          <p:cNvPr id="15" name="Chevron 14"/>
          <p:cNvSpPr/>
          <p:nvPr/>
        </p:nvSpPr>
        <p:spPr>
          <a:xfrm>
            <a:off x="8412480" y="1508760"/>
            <a:ext cx="2377440" cy="731520"/>
          </a:xfrm>
          <a:prstGeom prst="chevron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阶段3
应用创造价值</a:t>
            </a:r>
          </a:p>
        </p:txBody>
      </p:sp>
      <p:sp>
        <p:nvSpPr>
          <p:cNvPr id="16" name="Oval 15"/>
          <p:cNvSpPr/>
          <p:nvPr/>
        </p:nvSpPr>
        <p:spPr>
          <a:xfrm>
            <a:off x="4617720" y="2788920"/>
            <a:ext cx="1417320" cy="1417320"/>
          </a:xfrm>
          <a:prstGeom prst="ellipse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芯片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43400"/>
            <a:ext cx="1600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算力上限</a:t>
            </a:r>
          </a:p>
        </p:txBody>
      </p:sp>
      <p:sp>
        <p:nvSpPr>
          <p:cNvPr id="18" name="Oval 17"/>
          <p:cNvSpPr/>
          <p:nvPr/>
        </p:nvSpPr>
        <p:spPr>
          <a:xfrm>
            <a:off x="6720840" y="2788920"/>
            <a:ext cx="1417320" cy="1417320"/>
          </a:xfrm>
          <a:prstGeom prst="ellipse">
            <a:avLst/>
          </a:prstGeom>
          <a:solidFill>
            <a:srgbClr val="3A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软件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4343400"/>
            <a:ext cx="1600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易用性/适配性</a:t>
            </a:r>
          </a:p>
        </p:txBody>
      </p:sp>
      <p:sp>
        <p:nvSpPr>
          <p:cNvPr id="20" name="Oval 19"/>
          <p:cNvSpPr/>
          <p:nvPr/>
        </p:nvSpPr>
        <p:spPr>
          <a:xfrm>
            <a:off x="8823960" y="2788920"/>
            <a:ext cx="1417320" cy="14173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应用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808" y="4343400"/>
            <a:ext cx="1600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icrosoft YaHei"/>
              </a:rPr>
              <a:t>用户体验/商业回报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074920"/>
            <a:ext cx="603504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700" b="1">
                <a:solidFill>
                  <a:srgbClr val="132B4D"/>
                </a:solidFill>
                <a:latin typeface="Microsoft YaHei"/>
              </a:rPr>
              <a:t>结论：硬件性能决定“能不能做”，而AI应用软件决定“用户愿不愿用、客户愿不愿买”。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二、国内外研究进展与研究空白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已有研究已从技术可行性转向转化机制、商业模式与生态协同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14400"/>
            <a:ext cx="53492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109728" cy="4389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029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国外研究进展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029200" cy="3822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强调数字化转型中的生态协同与价值共创。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生成式AI降低原创创新门槛，加速原型到产品的转化。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商业化路径从“技术推动”转向“市场拉动”。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关注“死亡之谷”、可解释性、跨场景泛化等转化障碍。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主张以客户价值导向设计差异化服务与定价。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914400"/>
            <a:ext cx="53492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9320" y="914400"/>
            <a:ext cx="109728" cy="438912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024128"/>
            <a:ext cx="5029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国内研究进展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371600"/>
            <a:ext cx="5029200" cy="3822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产业进入“算力增强+应用驱动”协同发展阶段。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产学研合作、技术转让、孵化器等转化模式并行。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普遍指出“重硬件、轻软件、弱应用”的结构性矛盾。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案例研究已提炼“平台+赛道”等商业化路径。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政策激励有效，但效果依赖企业自身转化能力。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650992"/>
            <a:ext cx="99669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1F2937"/>
                </a:solidFill>
                <a:latin typeface="Microsoft YaHei"/>
              </a:rPr>
              <a:t>研究空白：缺少面向中型AI芯片企业、聚焦AI应用软件高迭代性/场景依赖性/数据驱动性的可操作化转化策略框架。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三、T公司现状：优势明显，但“有算力、无应用”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案例企业：面向AI边缘智能和终端领域提供芯片的科技企业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14400"/>
            <a:ext cx="365760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109728" cy="205740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33375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企业基础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333756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具备自研AI芯片与较强底层算子库/编译优化能力。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硬件算力性能处于行业领先区间。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已有一定软件技术成果储备，但转化效能偏弱。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154680"/>
            <a:ext cx="36576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154680"/>
            <a:ext cx="109728" cy="21031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64408"/>
            <a:ext cx="33375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核心症结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11880"/>
            <a:ext cx="3337560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经营重心仍偏底层硬件支撑。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上层智能应用未能有效铺开。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应用生态不足导致芯片差异化竞争受限。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480560" y="1097280"/>
          <a:ext cx="676656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0" y="4251960"/>
            <a:ext cx="6492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32B4D"/>
                </a:solidFill>
                <a:latin typeface="Microsoft YaHei"/>
              </a:rPr>
              <a:t>“强硬件、弱应用、轻运营”是T公司成果转化效率偏低的结构性特征。</a:t>
            </a:r>
          </a:p>
        </p:txBody>
      </p:sp>
      <p:sp>
        <p:nvSpPr>
          <p:cNvPr id="14" name="Chevron 13"/>
          <p:cNvSpPr/>
          <p:nvPr/>
        </p:nvSpPr>
        <p:spPr>
          <a:xfrm>
            <a:off x="4480560" y="4800600"/>
            <a:ext cx="1828800" cy="685800"/>
          </a:xfrm>
          <a:prstGeom prst="chevron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应用未铺开</a:t>
            </a:r>
          </a:p>
        </p:txBody>
      </p:sp>
      <p:sp>
        <p:nvSpPr>
          <p:cNvPr id="15" name="Chevron 14"/>
          <p:cNvSpPr/>
          <p:nvPr/>
        </p:nvSpPr>
        <p:spPr>
          <a:xfrm>
            <a:off x="6217920" y="4800600"/>
            <a:ext cx="2103120" cy="685800"/>
          </a:xfrm>
          <a:prstGeom prst="chevron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体验价值不显性</a:t>
            </a:r>
          </a:p>
        </p:txBody>
      </p:sp>
      <p:sp>
        <p:nvSpPr>
          <p:cNvPr id="16" name="Chevron 15"/>
          <p:cNvSpPr/>
          <p:nvPr/>
        </p:nvSpPr>
        <p:spPr>
          <a:xfrm>
            <a:off x="8229600" y="4800600"/>
            <a:ext cx="2560320" cy="685800"/>
          </a:xfrm>
          <a:prstGeom prst="chevron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芯片销售拉动不足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四、面临的主要挑战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外部市场与内部组织问题叠加，形成应用落地与商业转化的双重约束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14400"/>
            <a:ext cx="53949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109728" cy="475488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074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外部行业挑战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074920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全球范围内上层应用独立变现仍是难题，客户付费意愿有限。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终端需求差异化显著，通用型应用难落地，定制化又易推高成本。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软硬件标准不统一，跨平台兼容和集成门槛高。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用户对“无感智能”的体验阈值持续提升。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914400"/>
            <a:ext cx="539496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9320" y="914400"/>
            <a:ext cx="109728" cy="475488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024128"/>
            <a:ext cx="5074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企业内部挑战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371600"/>
            <a:ext cx="5074920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经营理念偏硬件导向，应用研发结构不完善。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组织协同不畅，市场信号难以快速传导到产品迭代。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应用差异化不足，难以建立软件护城河。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软件资产价值被低估，商业模式仍以捆绑销售为主。</a:t>
            </a:r>
          </a:p>
          <a:p>
            <a:pPr/>
            <a:r>
              <a:rPr sz="1300">
                <a:solidFill>
                  <a:srgbClr val="1F2937"/>
                </a:solidFill>
                <a:latin typeface="Microsoft YaHei"/>
              </a:rPr>
              <a:t>• 市场宣传和渠道触达偏弱，优质成果缺乏外部认知。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06440"/>
            <a:ext cx="100584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132B4D"/>
                </a:solidFill>
                <a:latin typeface="Microsoft YaHei"/>
              </a:rPr>
              <a:t>挑战本质：不是“有没有软件”，而是“软件是否能持续创造体验价值并转化为商业结果”。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五、研究目标与拟解决的关键问题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围绕“识别问题—设计策略—推动落地”构建研究任务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43891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研究目标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94360" cy="384048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389888"/>
            <a:ext cx="35661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481328"/>
            <a:ext cx="310896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商业模式识别：梳理主流商业化模式与演进方向，输出适合T公司的模式选择。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94360" cy="384048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350008"/>
            <a:ext cx="35661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441448"/>
            <a:ext cx="310896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转化瓶颈诊断：盘点软件存量、量化瓶颈，形成问题优先级清单。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594360" cy="384048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310128"/>
            <a:ext cx="35661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401568"/>
            <a:ext cx="310896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差异化转化策略：针对直接变现型/芯片带动型软件设计不同策略与定价。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594360" cy="384048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270248"/>
            <a:ext cx="356616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361688"/>
            <a:ext cx="310896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战略落地路径：基于PEST-SWOT确定应用软件转化的战略定位与发展方向。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960120"/>
            <a:ext cx="5029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拟解决的关键问题</a:t>
            </a:r>
          </a:p>
        </p:txBody>
      </p:sp>
      <p:sp>
        <p:nvSpPr>
          <p:cNvPr id="18" name="Oval 17"/>
          <p:cNvSpPr/>
          <p:nvPr/>
        </p:nvSpPr>
        <p:spPr>
          <a:xfrm>
            <a:off x="5715000" y="1417320"/>
            <a:ext cx="502920" cy="502920"/>
          </a:xfrm>
          <a:prstGeom prst="ellipse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399032"/>
            <a:ext cx="45720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481328"/>
            <a:ext cx="41148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如何从“硬件中心”转向“应用与体验中心”的分析框架？</a:t>
            </a:r>
          </a:p>
        </p:txBody>
      </p:sp>
      <p:sp>
        <p:nvSpPr>
          <p:cNvPr id="21" name="Oval 20"/>
          <p:cNvSpPr/>
          <p:nvPr/>
        </p:nvSpPr>
        <p:spPr>
          <a:xfrm>
            <a:off x="5715000" y="2441448"/>
            <a:ext cx="502920" cy="502920"/>
          </a:xfrm>
          <a:prstGeom prst="ellipse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23160"/>
            <a:ext cx="45720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505456"/>
            <a:ext cx="41148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T公司应用软件对芯片销售贡献度偏低的症结何在？</a:t>
            </a:r>
          </a:p>
        </p:txBody>
      </p:sp>
      <p:sp>
        <p:nvSpPr>
          <p:cNvPr id="24" name="Oval 23"/>
          <p:cNvSpPr/>
          <p:nvPr/>
        </p:nvSpPr>
        <p:spPr>
          <a:xfrm>
            <a:off x="5715000" y="3465576"/>
            <a:ext cx="502920" cy="502920"/>
          </a:xfrm>
          <a:prstGeom prst="ellipse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447288"/>
            <a:ext cx="45720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29584"/>
            <a:ext cx="41148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如何设计适配AI应用软件特性的商业转化路径？</a:t>
            </a:r>
          </a:p>
        </p:txBody>
      </p:sp>
      <p:sp>
        <p:nvSpPr>
          <p:cNvPr id="27" name="Oval 26"/>
          <p:cNvSpPr/>
          <p:nvPr/>
        </p:nvSpPr>
        <p:spPr>
          <a:xfrm>
            <a:off x="5715000" y="4489704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4471416"/>
            <a:ext cx="45720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553712"/>
            <a:ext cx="41148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如何建立长效的应用迭代与体验优化机制？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六、研究内容、方法与技术路线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研究遵循“理论铺垫—问题诊断—双轮驱动—策略落地”的逻辑链路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5029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主要研究内容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2148840" cy="11887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874519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行业模式比较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828800"/>
            <a:ext cx="1920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比较SaaS、API计费、软硬一体、整体解决方案等模式。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325880"/>
            <a:ext cx="2148840" cy="1188720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463040"/>
            <a:ext cx="1874519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T公司现状诊断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1828800"/>
            <a:ext cx="1920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盘点成果储备、资源配置、协同流程与痛点成因。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325880"/>
            <a:ext cx="2148840" cy="1188720"/>
          </a:xfrm>
          <a:prstGeom prst="round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463040"/>
            <a:ext cx="1874519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双轨策略设计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0408" y="1828800"/>
            <a:ext cx="1920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提出“软件变现+OEM拉动”的差异化转化方案。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1325880"/>
            <a:ext cx="2148840" cy="11887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463040"/>
            <a:ext cx="1874519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保障与评估体系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1828800"/>
            <a:ext cx="1920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建立推广机制、客户成功机制与效果评价体系。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80360"/>
            <a:ext cx="5029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研究方法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46120"/>
            <a:ext cx="1325880" cy="329184"/>
          </a:xfrm>
          <a:prstGeom prst="round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文献研究法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291840"/>
            <a:ext cx="2926080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界定概念边界与价值逻辑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86200"/>
            <a:ext cx="1325880" cy="329184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PEST/SWOT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931920"/>
            <a:ext cx="2926080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判断外部环境与内部资源匹配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26279"/>
            <a:ext cx="1325880" cy="329184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案例分析法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571999"/>
            <a:ext cx="2926080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提炼标杆企业可借鉴经验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66359"/>
            <a:ext cx="1325880" cy="329184"/>
          </a:xfrm>
          <a:prstGeom prst="round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访谈调研法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212079"/>
            <a:ext cx="2926080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获取企业/客户/终端用户一手数据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880360"/>
            <a:ext cx="5029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技术路线</a:t>
            </a:r>
          </a:p>
        </p:txBody>
      </p:sp>
      <p:sp>
        <p:nvSpPr>
          <p:cNvPr id="27" name="Chevron 26"/>
          <p:cNvSpPr/>
          <p:nvPr/>
        </p:nvSpPr>
        <p:spPr>
          <a:xfrm>
            <a:off x="5852160" y="3657600"/>
            <a:ext cx="960120" cy="777240"/>
          </a:xfrm>
          <a:prstGeom prst="chevron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理论铺垫</a:t>
            </a:r>
          </a:p>
        </p:txBody>
      </p:sp>
      <p:sp>
        <p:nvSpPr>
          <p:cNvPr id="28" name="Chevron 27"/>
          <p:cNvSpPr/>
          <p:nvPr/>
        </p:nvSpPr>
        <p:spPr>
          <a:xfrm>
            <a:off x="6693408" y="3657600"/>
            <a:ext cx="960120" cy="777240"/>
          </a:xfrm>
          <a:prstGeom prst="chevron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战略定位</a:t>
            </a:r>
          </a:p>
        </p:txBody>
      </p:sp>
      <p:sp>
        <p:nvSpPr>
          <p:cNvPr id="29" name="Chevron 28"/>
          <p:cNvSpPr/>
          <p:nvPr/>
        </p:nvSpPr>
        <p:spPr>
          <a:xfrm>
            <a:off x="7534656" y="3657600"/>
            <a:ext cx="960120" cy="777240"/>
          </a:xfrm>
          <a:prstGeom prst="chevron">
            <a:avLst/>
          </a:prstGeom>
          <a:solidFill>
            <a:srgbClr val="3A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行业分析</a:t>
            </a:r>
          </a:p>
        </p:txBody>
      </p:sp>
      <p:sp>
        <p:nvSpPr>
          <p:cNvPr id="30" name="Chevron 29"/>
          <p:cNvSpPr/>
          <p:nvPr/>
        </p:nvSpPr>
        <p:spPr>
          <a:xfrm>
            <a:off x="8375904" y="3657600"/>
            <a:ext cx="960120" cy="777240"/>
          </a:xfrm>
          <a:prstGeom prst="chevron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问题诊断</a:t>
            </a:r>
          </a:p>
        </p:txBody>
      </p:sp>
      <p:sp>
        <p:nvSpPr>
          <p:cNvPr id="31" name="Chevron 30"/>
          <p:cNvSpPr/>
          <p:nvPr/>
        </p:nvSpPr>
        <p:spPr>
          <a:xfrm>
            <a:off x="9217152" y="3657600"/>
            <a:ext cx="960120" cy="777240"/>
          </a:xfrm>
          <a:prstGeom prst="chevron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双轮驱动</a:t>
            </a:r>
          </a:p>
        </p:txBody>
      </p:sp>
      <p:sp>
        <p:nvSpPr>
          <p:cNvPr id="32" name="Chevron 31"/>
          <p:cNvSpPr/>
          <p:nvPr/>
        </p:nvSpPr>
        <p:spPr>
          <a:xfrm>
            <a:off x="10058400" y="3657600"/>
            <a:ext cx="960120" cy="777240"/>
          </a:xfrm>
          <a:prstGeom prst="chevron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策略设计</a:t>
            </a:r>
          </a:p>
        </p:txBody>
      </p:sp>
      <p:sp>
        <p:nvSpPr>
          <p:cNvPr id="33" name="Chevron 32"/>
          <p:cNvSpPr/>
          <p:nvPr/>
        </p:nvSpPr>
        <p:spPr>
          <a:xfrm>
            <a:off x="10899648" y="3657600"/>
            <a:ext cx="960120" cy="777240"/>
          </a:xfrm>
          <a:prstGeom prst="chevron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完善输出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4709160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500" b="1">
                <a:solidFill>
                  <a:srgbClr val="132B4D"/>
                </a:solidFill>
                <a:latin typeface="Microsoft YaHei"/>
              </a:rPr>
              <a:t>核心产出：可执行的T公司AI应用软件成果转化策略与评价框架。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七、核心策略框架：双轮驱动成果转化体系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通过“软件直接变现 + OEM集成拉动”实现技术价值与商业价值同步提升</a:t>
            </a:r>
          </a:p>
        </p:txBody>
      </p:sp>
      <p:sp>
        <p:nvSpPr>
          <p:cNvPr id="4" name="Hexagon 3"/>
          <p:cNvSpPr/>
          <p:nvPr/>
        </p:nvSpPr>
        <p:spPr>
          <a:xfrm>
            <a:off x="4983480" y="2011680"/>
            <a:ext cx="2194560" cy="1325880"/>
          </a:xfrm>
          <a:prstGeom prst="hexagon">
            <a:avLst/>
          </a:prstGeom>
          <a:solidFill>
            <a:srgbClr val="E6EFFA"/>
          </a:solidFill>
          <a:ln>
            <a:solidFill>
              <a:srgbClr val="3A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132B4D"/>
                </a:solidFill>
                <a:latin typeface="Microsoft YaHei"/>
              </a:rPr>
              <a:t>T公司
AI应用软件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1691640"/>
            <a:ext cx="2331720" cy="23317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轮1
软件直接变现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4160520"/>
            <a:ext cx="274320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SaaS订阅 / API授权 / 工具型软件收费</a:t>
            </a:r>
          </a:p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形成独立软件收入与现金流</a:t>
            </a:r>
          </a:p>
        </p:txBody>
      </p:sp>
      <p:sp>
        <p:nvSpPr>
          <p:cNvPr id="7" name="Oval 6"/>
          <p:cNvSpPr/>
          <p:nvPr/>
        </p:nvSpPr>
        <p:spPr>
          <a:xfrm>
            <a:off x="7909560" y="1691640"/>
            <a:ext cx="2331720" cy="2331720"/>
          </a:xfrm>
          <a:prstGeom prst="ellipse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轮2
OEM集成拉动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160520"/>
            <a:ext cx="292608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场景型方案嵌入客户产品</a:t>
            </a:r>
          </a:p>
          <a:p>
            <a:pPr algn="ctr"/>
            <a:r>
              <a:rPr sz="1300" b="0">
                <a:solidFill>
                  <a:srgbClr val="1F2937"/>
                </a:solidFill>
                <a:latin typeface="Microsoft YaHei"/>
              </a:rPr>
              <a:t>以应用体验提升芯片中标率与溢价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834640"/>
            <a:ext cx="868680" cy="0"/>
          </a:xfrm>
          <a:prstGeom prst="line">
            <a:avLst/>
          </a:prstGeom>
          <a:ln w="31750">
            <a:solidFill>
              <a:srgbClr val="38A1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78040" y="2834640"/>
            <a:ext cx="731520" cy="0"/>
          </a:xfrm>
          <a:prstGeom prst="line">
            <a:avLst/>
          </a:prstGeom>
          <a:ln w="31750">
            <a:solidFill>
              <a:srgbClr val="ED89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60520" y="105156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132B4D"/>
                </a:solidFill>
                <a:latin typeface="Microsoft YaHei"/>
              </a:rPr>
              <a:t>两轮协同：软件收入反哺研发，硬件装机反哺软件生态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349240"/>
            <a:ext cx="914400" cy="347472"/>
          </a:xfrm>
          <a:prstGeom prst="round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战略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" y="5385816"/>
            <a:ext cx="1188720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Microsoft YaHei"/>
              </a:rPr>
              <a:t>重构“重硬件、轻软件”认知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5349240"/>
            <a:ext cx="914400" cy="34747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组织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0791" y="5385816"/>
            <a:ext cx="1188720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Microsoft YaHei"/>
              </a:rPr>
              <a:t>跨部门应用解决方案团队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5349240"/>
            <a:ext cx="914400" cy="347472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技术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5385816"/>
            <a:ext cx="1188720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Microsoft YaHei"/>
              </a:rPr>
              <a:t>聚焦垂直场景与极致体验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5349240"/>
            <a:ext cx="914400" cy="347472"/>
          </a:xfrm>
          <a:prstGeom prst="round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市场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5385816"/>
            <a:ext cx="1188720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Microsoft YaHei"/>
              </a:rPr>
              <a:t>芯片+应用+服务整体营销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40" y="5349240"/>
            <a:ext cx="914400" cy="347472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政策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08792" y="5385816"/>
            <a:ext cx="1188720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Microsoft YaHei"/>
              </a:rPr>
              <a:t>跟踪政策并导入资源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八、研究创新点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从需求侧、企业类型、策略体系与评价逻辑四个维度形成增量贡献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5120640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280160"/>
            <a:ext cx="4754880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01 供给侧转向需求侧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828800"/>
            <a:ext cx="466344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从技术开发便利性转向OEM/渠道/终端用户真实需求与体验反馈。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120640" cy="4572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280160"/>
            <a:ext cx="4754880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02 聚焦中型企业困境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66344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针对中型AI芯片企业“算力达标、软件滞后”的结构性矛盾展开分析。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57600"/>
            <a:ext cx="5120640" cy="457200"/>
          </a:xfrm>
          <a:prstGeom prst="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749039"/>
            <a:ext cx="4754880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03 构建双轮驱动体系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297680"/>
            <a:ext cx="466344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提出“软件直接变现 + OEM集成拉动”的双通道成果转化机制。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5760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657600"/>
            <a:ext cx="5120640" cy="457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749039"/>
            <a:ext cx="4754880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</a:rPr>
              <a:t>04 引入体验价值指标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297680"/>
            <a:ext cx="466344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</a:rPr>
              <a:t>用“优质体验—差异化回报—持续迭代”重构转化绩效评价体系。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九、计划进度与预期成果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时间安排聚焦2026年7月至12月，确保开题后快速推进实证与写作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45720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计划进度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554480"/>
            <a:ext cx="548640" cy="548640"/>
          </a:xfrm>
          <a:prstGeom prst="ellipse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1645920" cy="1097280"/>
          </a:xfrm>
          <a:prstGeom prst="round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59152"/>
            <a:ext cx="128016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7月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40817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文献综述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理论框架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1828800"/>
            <a:ext cx="1508760" cy="0"/>
          </a:xfrm>
          <a:prstGeom prst="line">
            <a:avLst/>
          </a:prstGeom>
          <a:ln w="25400">
            <a:solidFill>
              <a:srgbClr val="D2D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743200" y="1554480"/>
            <a:ext cx="548640" cy="548640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2240280"/>
            <a:ext cx="1645920" cy="109728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2359152"/>
            <a:ext cx="128016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8-9月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0632" y="2697480"/>
            <a:ext cx="140817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深度调研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数据收集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91840" y="1828800"/>
            <a:ext cx="1508760" cy="0"/>
          </a:xfrm>
          <a:prstGeom prst="line">
            <a:avLst/>
          </a:prstGeom>
          <a:ln w="25400">
            <a:solidFill>
              <a:srgbClr val="D2D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800600" y="1554480"/>
            <a:ext cx="548640" cy="548640"/>
          </a:xfrm>
          <a:prstGeom prst="ellipse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2240280"/>
            <a:ext cx="1645920" cy="1097280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2359152"/>
            <a:ext cx="128016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10月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2697480"/>
            <a:ext cx="140817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实证分析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策略设计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49240" y="1828800"/>
            <a:ext cx="1508760" cy="0"/>
          </a:xfrm>
          <a:prstGeom prst="line">
            <a:avLst/>
          </a:prstGeom>
          <a:ln w="25400">
            <a:solidFill>
              <a:srgbClr val="D2D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858000" y="1554480"/>
            <a:ext cx="548640" cy="548640"/>
          </a:xfrm>
          <a:prstGeom prst="ellipse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2240280"/>
            <a:ext cx="1645920" cy="1097280"/>
          </a:xfrm>
          <a:prstGeom prst="round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359152"/>
            <a:ext cx="128016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10-11月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432" y="2697480"/>
            <a:ext cx="140817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论文初稿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修改完善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06640" y="1828800"/>
            <a:ext cx="1508760" cy="0"/>
          </a:xfrm>
          <a:prstGeom prst="line">
            <a:avLst/>
          </a:prstGeom>
          <a:ln w="25400">
            <a:solidFill>
              <a:srgbClr val="D2D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915400" y="1554480"/>
            <a:ext cx="548640" cy="54864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2240280"/>
            <a:ext cx="1645920" cy="109728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59152"/>
            <a:ext cx="128016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11-12月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2697480"/>
            <a:ext cx="140817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导师反馈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Microsoft YaHei"/>
              </a:rPr>
              <a:t>定稿提交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886200"/>
            <a:ext cx="45720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>
                <a:solidFill>
                  <a:srgbClr val="132B4D"/>
                </a:solidFill>
                <a:latin typeface="Microsoft YaHei"/>
              </a:rPr>
              <a:t>预期成果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97680"/>
            <a:ext cx="50292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297680"/>
            <a:ext cx="109728" cy="15087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07408"/>
            <a:ext cx="47091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理论成果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54880"/>
            <a:ext cx="470916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构建“双轮驱动”成果转化理论框架。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阐释应用软件差异化赋能硬件商业化的作用机理。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完成不少于3万字的硕士论文。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4297680"/>
            <a:ext cx="50292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35040" y="4297680"/>
            <a:ext cx="109728" cy="1508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4407408"/>
            <a:ext cx="47091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实践成果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754880"/>
            <a:ext cx="470916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形成面向中型AI企业的应用驱动型转化实施方案。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输出基于用户洞察的终端应用体验优化策略。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提炼可迁移的商业化落地参考框架。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十、可行性与前期基础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理论、调研、能力与资源基础均已具备，具备推进课题研究的现实条件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051560"/>
            <a:ext cx="4983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58952" y="1216151"/>
            <a:ext cx="1417320" cy="347472"/>
          </a:xfrm>
          <a:prstGeom prst="round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理论可行性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07592"/>
            <a:ext cx="2926080" cy="594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已有技术成果转化、体验驱动创新、软硬协同设计等成熟理论支撑。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4983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82512" y="1216151"/>
            <a:ext cx="1417320" cy="34747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调研可行性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307592"/>
            <a:ext cx="2926080" cy="594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宏观数据可公开获取，企业与下游合作方具备调研配合条件。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06039"/>
            <a:ext cx="4983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8952" y="2770632"/>
            <a:ext cx="1417320" cy="347472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能力可行性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862072"/>
            <a:ext cx="2926080" cy="594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具备产业经济与企业管理训练基础，熟悉PEST、SWOT等工具。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06039"/>
            <a:ext cx="4983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2770632"/>
            <a:ext cx="1417320" cy="347472"/>
          </a:xfrm>
          <a:prstGeom prst="roundRect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资源可行性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862072"/>
            <a:ext cx="2926080" cy="594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</a:rPr>
              <a:t>导师指导、企业接口人和客户沟通渠道已初步建立。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72000"/>
            <a:ext cx="10469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572000"/>
            <a:ext cx="109728" cy="12344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81728"/>
            <a:ext cx="101498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32B4D"/>
                </a:solidFill>
                <a:latin typeface="Microsoft YaHei"/>
              </a:rPr>
              <a:t>与本课题相关的前期积累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29200"/>
            <a:ext cx="10149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具有多年半导体行业从业经验，熟悉AI相关产品研发与软件推广。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已系统学习项目管理、技术转移管理、企业经营与科技创新政策等课程。</a:t>
            </a:r>
          </a:p>
          <a:p>
            <a:pPr/>
            <a:r>
              <a:rPr sz="1200">
                <a:solidFill>
                  <a:srgbClr val="1F2937"/>
                </a:solidFill>
                <a:latin typeface="Microsoft YaHei"/>
              </a:rPr>
              <a:t>• 正在持续积累中英文文献、行业白皮书与调研资料库。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十一、汇报总结</a:t>
            </a:r>
          </a:p>
          <a:p>
            <a:r>
              <a:rPr sz="1000">
                <a:solidFill>
                  <a:srgbClr val="DCE6F5"/>
                </a:solidFill>
                <a:latin typeface="Microsoft YaHei"/>
              </a:rPr>
              <a:t>选题聚焦明确、问题导向清晰、策略框架可落地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327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481328"/>
            <a:ext cx="96926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200" b="1">
                <a:solidFill>
                  <a:srgbClr val="132B4D"/>
                </a:solidFill>
                <a:latin typeface="Microsoft YaHei"/>
              </a:rPr>
              <a:t>本研究将围绕“应用驱动、体验为先、软硬协同、双轮转化”展开系统研究。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651760"/>
            <a:ext cx="457200" cy="457200"/>
          </a:xfrm>
          <a:prstGeom prst="ellipse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724912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Microsoft YaHei"/>
              </a:rPr>
              <a:t>点题：回答T公司如何把AI应用软件真正转化为商业价值。</a:t>
            </a:r>
          </a:p>
        </p:txBody>
      </p:sp>
      <p:sp>
        <p:nvSpPr>
          <p:cNvPr id="8" name="Oval 7"/>
          <p:cNvSpPr/>
          <p:nvPr/>
        </p:nvSpPr>
        <p:spPr>
          <a:xfrm>
            <a:off x="1828800" y="3456432"/>
            <a:ext cx="457200" cy="457200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529584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Microsoft YaHei"/>
              </a:rPr>
              <a:t>聚焦：围绕“有算力、无应用”的典型问题展开诊断。</a:t>
            </a:r>
          </a:p>
        </p:txBody>
      </p:sp>
      <p:sp>
        <p:nvSpPr>
          <p:cNvPr id="10" name="Oval 9"/>
          <p:cNvSpPr/>
          <p:nvPr/>
        </p:nvSpPr>
        <p:spPr>
          <a:xfrm>
            <a:off x="1828800" y="4261104"/>
            <a:ext cx="457200" cy="457200"/>
          </a:xfrm>
          <a:prstGeom prst="ellipse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334256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Microsoft YaHei"/>
              </a:rPr>
              <a:t>方案：构建“软件直接变现 + OEM集成拉动”双轮驱动体系。</a:t>
            </a:r>
          </a:p>
        </p:txBody>
      </p:sp>
      <p:sp>
        <p:nvSpPr>
          <p:cNvPr id="12" name="Oval 11"/>
          <p:cNvSpPr/>
          <p:nvPr/>
        </p:nvSpPr>
        <p:spPr>
          <a:xfrm>
            <a:off x="1828800" y="5065776"/>
            <a:ext cx="457200" cy="457200"/>
          </a:xfrm>
          <a:prstGeom prst="ellipse">
            <a:avLst/>
          </a:prstGeom>
          <a:solidFill>
            <a:srgbClr val="ED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5138928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Microsoft YaHei"/>
              </a:rPr>
              <a:t>目标：为T公司及同类中型AI企业提供可复制的转化路径。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5897880"/>
            <a:ext cx="3337560" cy="438912"/>
          </a:xfrm>
          <a:prstGeom prst="roundRect">
            <a:avLst/>
          </a:prstGeom>
          <a:solidFill>
            <a:srgbClr val="13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感谢聆听  ·  请各位老师批评指正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46520"/>
            <a:ext cx="411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